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760ac1f-512d-f458-e549-94f66ee1ef16}">
          <p14:sldIdLst>
            <p14:sldId id="256"/>
            <p14:sldId id="257"/>
            <p14:sldId id="258"/>
            <p14:sldId id="259"/>
            <p14:sldId id="260"/>
            <p14:sldId id="261"/>
          </p14:sldIdLst>
        </p14:section>
        <p14:section name="Week 1: Foundations" id="{0e31ab46-bff8-3cd4-8898-4d25cdf0a700}">
          <p14:sldIdLst>
            <p14:sldId id="262"/>
            <p14:sldId id="263"/>
            <p14:sldId id="264"/>
            <p14:sldId id="265"/>
            <p14:sldId id="266"/>
            <p14:sldId id="267"/>
          </p14:sldIdLst>
        </p14:section>
        <p14:section name="Week 2: Data and security" id="{8fd712c0-a261-0106-8e01-993479ebbb52}">
          <p14:sldIdLst>
            <p14:sldId id="268"/>
            <p14:sldId id="269"/>
            <p14:sldId id="270"/>
            <p14:sldId id="271"/>
            <p14:sldId id="272"/>
            <p14:sldId id="273"/>
          </p14:sldIdLst>
        </p14:section>
        <p14:section name="Week 3: Quality and shipping" id="{20181df9-aac1-e7eb-a6f4-5324dbfa51b2}">
          <p14:sldIdLst>
            <p14:sldId id="274"/>
            <p14:sldId id="275"/>
            <p14:sldId id="276"/>
            <p14:sldId id="277"/>
            <p14:sldId id="278"/>
            <p14:sldId id="279"/>
          </p14:sldIdLst>
        </p14:section>
        <p14:section name="15 points to take care of" id="{ab7b3711-8fce-97ef-7a0a-d76e87d5c711}">
          <p14:sldIdLst>
            <p14:sldId id="280"/>
            <p14:sldId id="281"/>
          </p14:sldIdLst>
        </p14:section>
        <p14:section name="Wrap-up" id="{9e647a8c-48fd-e85d-1c90-35c4c6927eda}">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showing the finished API running in /docs, so interns see the destination on Day 1. Set expectations: 2 to 3 hours daily, one pull request per day, a demo on Day 7 and Day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endpoint list once. Every intern builds this same API, which makes reviews and demos comparable. Hand out the written spec with request and response examples for each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firm: this is the only stack for the program. If an intern asks about another library, park it for the retro. Consistency lets mentors review any intern's code quickly. Authentication adds two small libraries on Day 9: pyjwt and pwdlib.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starter repo ships with these folders empty. Interns fill them in day by day. Refer back to this slide whenever code lands in the wrong layer during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6 and 14 are deliberately lighter so slower interns can catch up. Days 7 and 15 end with demos. Keep this slide printed on the wall or pinned in the team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rhythm matters more than any single topic. Interns know what to expect and mentors know when to step in. If the concept segment runs over, cut from it, never from the build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recap the previous week and set the goal: By Day 5: a layered API with validated input and database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first 15 minutes confirming every machine runs uv sync and the dev server. Do not start teaching until all are green. Keep the Python refresher practical: only the features they will use in this project (type hints, dataclasses, list comprehensions, async). Explain async briefly: FastAPI handles it, they need to recognise it, not master it today. Close by having everyone open their first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this from an empty file. Show /docs early: interns love seeing their endpoint appear instantly. get_task deliberately crashes with a 500 for a missing id. Do not fix it today; ask interns to find it. It becomes the motivating example on Day 8. Show how status=todo arrives as a query parameter just from the function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validation happens at the edge so the rest of the code can trust its inputs. Send invalid payloads from /docs and read the 422 body together. Explain why Create and Read are separate: the client never sends id or status on create. Use this to introduce the fail-fast principle used for the rest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architecture day. Draw the request path on a whiteboard: router, then service, then (from Day 5) the database. Rule to repeat: routers know HTTP, services know business rules, neither knows the other's job. Depends will look like magic; explain it as 'FastAPI calls this function for you and passes the result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DATABASE_URL is a module constant for now; Day 13 moves it into Settings. Tables are not created today: Alembic creates them tomorrow. Point out that Mapped[str] with no default means NOT NULL, so the types carry the rules. Explain the yield dependency: the session opens before the endpoint runs and closes after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recap the previous week and set the goal: By Day 10: a persistent, secured API where users see only their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Lighter day by design: use spare time for interns who are behind on Days 1 to 5. Make them open the generated migration file and read it before upgrading. Autogenerate is a draft, not the truth. Show a downgrade and upgrade cycle so they trust the tool. From today, nobody calls create_all().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get_service now takes the session: def get_service(db: DB) -&gt; TaskService. Add model_config = ConfigDict(from_attributes=True) to Read schemas so FastAPI can serialise ORM objects. Keep the last 45 minutes for the mid-point demo: 3 minutes each, show one create and one list call. Celebrate progress; note who needs help in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reproducing the Day 2 crash. Ask: why is a missing task a 500? Explain separation of concerns: the service does not know it is behind HTTP, so it raises a domain error, and main.py translates it. ConflictError (409) covers duplicates such as an email already registered.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with uv add pyjwt 'pwdlib[argon2]'. Show a hashed password in psql so they see why plain text is never acceptable. Paste a token into jwt.io to show it is signed, not encrypted: never put secrets in the payload. Wrong email and wrong password both return the same 401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interns create two users and try to read each other's projects. That test is the deliverable. Explain 404 over 403: it does not reveal that the resource exists. Authentication answers 'who are you'; authorization answers 'what may you do'. Make sure that distinction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recap the previous week and set the goal: By Day 15: a tested, containerized API every intern can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the db_session, auth_headers, and project fixtures in the starter repo's conftest so the day is spent on writing tests, not fixture plumbing. The db_session fixture should wrap each test in a transaction and roll it back. From today, every PR needs tests for what it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service, build the select() step by step: start with the owner filter, then add a where() for each filter that is set. notify_assignee can simply log a message; the lesson is that the response does not wait for it. Point out that Query(le=100) protects the database from huge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fail fast: delete SECRET_KEY from .env and start the app. It stops immediately with a clear error. That is the desired behaviour. Review git history together to confirm no secrets were committed earlier; if one was, rotate it and explain why deleting the line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Lighter day by design: protect the second half for catch-up and polishing before the final demo. Inside Compose the database host is db, not localhost, so DATABASE_URL in .env must use db. This trips up almost everyone. The db service reads POSTGRES_USER, POSTGRES_PASSWORD, and POSTGRES_DB from the same .env. Add a .dockerignore that excludes .venv and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a fresh clone proves the README and Docker setup work, not just the intern's laptop. Ask each presenter one 'why' question about their code. Run the retro as three columns: keep, change, try. Share the retro results with the next intern batch's trainers.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these with every mentor before Day 1. Points 1 and 2 are pre-program work; the rest apply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12 to 15 are about people, not code. They decide whether weaker interns finish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checklist to score the final PR. Anything unchecked is the intern's first task after the program, not a reason to fail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interns and mentors. Collect written feedback before they leave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1069848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468880"/>
            <a:ext cx="5486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4937760" cy="128016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tx2"/>
                </a:solidFill>
              </a:rPr>
              <a:t>FastAPI Intern Program · Task Tracker API</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63040" y="365760"/>
            <a:ext cx="101498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tx2"/>
                </a:solidFill>
              </a:rPr>
              <a:t>FastAPI Intern Program · Task Tracker API</a:t>
            </a:r>
            <a:endParaRPr lang="en-US" sz="10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100584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INTERN PROGRAM  ·  15 DAYS  ·  2–3 HOURS DAILY</a:t>
            </a:r>
            <a:endParaRPr lang="en-US" sz="1400" dirty="0"/>
          </a:p>
        </p:txBody>
      </p:sp>
      <p:sp>
        <p:nvSpPr>
          <p:cNvPr id="3" name="Text 0"/>
          <p:cNvSpPr/>
          <p:nvPr>
            <p:ph idx="100" type="title" hasCustomPrompt="1"/>
          </p:nvPr>
        </p:nvSpPr>
        <p:spPr>
          <a:xfrm>
            <a:off x="731520" y="2103120"/>
            <a:ext cx="10698480" cy="1463040"/>
          </a:xfrm>
          <a:prstGeom prst="rect">
            <a:avLst/>
          </a:prstGeom>
          <a:noFill/>
          <a:ln/>
        </p:spPr>
        <p:txBody>
          <a:bodyPr wrap="square" lIns="0" tIns="0" rIns="0" bIns="0" rtlCol="0" anchor="t"/>
          <a:lstStyle/>
          <a:p>
            <a:pPr algn="l" indent="0" marL="0">
              <a:buNone/>
            </a:pPr>
            <a:r>
              <a:rPr lang="en-US" sz="4400" b="1" dirty="0">
                <a:solidFill>
                  <a:schemeClr val="bg1"/>
                </a:solidFill>
              </a:rPr>
              <a:t>Build a Task Tracker API with Python and FastAPI</a:t>
            </a:r>
            <a:endParaRPr lang="en-US" sz="4400" dirty="0"/>
          </a:p>
        </p:txBody>
      </p:sp>
      <p:sp>
        <p:nvSpPr>
          <p:cNvPr id="4" name="Text 0"/>
          <p:cNvSpPr/>
          <p:nvPr>
            <p:ph idx="101" type="body" hasCustomPrompt="1"/>
          </p:nvPr>
        </p:nvSpPr>
        <p:spPr>
          <a:xfrm>
            <a:off x="731520" y="3657600"/>
            <a:ext cx="10698480" cy="822960"/>
          </a:xfrm>
          <a:prstGeom prst="rect">
            <a:avLst/>
          </a:prstGeom>
          <a:noFill/>
          <a:ln/>
        </p:spPr>
        <p:txBody>
          <a:bodyPr wrap="square" lIns="0" tIns="0" rIns="0" bIns="0" rtlCol="0" anchor="t"/>
          <a:lstStyle/>
          <a:p>
            <a:pPr indent="0" marL="0">
              <a:buNone/>
            </a:pPr>
            <a:r>
              <a:rPr lang="en-US" sz="2000" dirty="0">
                <a:solidFill>
                  <a:schemeClr val="accent5"/>
                </a:solidFill>
              </a:rPr>
              <a:t>From an empty repo to a tested, containerized API — one working step a day</a:t>
            </a:r>
            <a:endParaRPr lang="en-US" sz="2000" dirty="0"/>
          </a:p>
        </p:txBody>
      </p:sp>
      <p:sp>
        <p:nvSpPr>
          <p:cNvPr id="5" name="Text 3"/>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400" dirty="0">
                <a:solidFill>
                  <a:schemeClr val="accent4"/>
                </a:solidFill>
              </a:rPr>
              <a:t>Author: @simplymanas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we'll build: the Task Tracker API</a:t>
            </a:r>
            <a:endParaRPr lang="en-US" sz="3200" dirty="0"/>
          </a:p>
        </p:txBody>
      </p:sp>
      <p:sp>
        <p:nvSpPr>
          <p:cNvPr id="3" name="Shape 1"/>
          <p:cNvSpPr/>
          <p:nvPr/>
        </p:nvSpPr>
        <p:spPr>
          <a:xfrm>
            <a:off x="548640" y="1417320"/>
            <a:ext cx="731520" cy="7315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731520" y="1600200"/>
            <a:ext cx="365760" cy="365760"/>
          </a:xfrm>
          <a:prstGeom prst="rect">
            <a:avLst/>
          </a:prstGeom>
        </p:spPr>
      </p:pic>
      <p:sp>
        <p:nvSpPr>
          <p:cNvPr id="5" name="Text 2"/>
          <p:cNvSpPr txBox="1"/>
          <p:nvPr/>
        </p:nvSpPr>
        <p:spPr>
          <a:xfrm>
            <a:off x="1508760" y="1399032"/>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Users</a:t>
            </a:r>
            <a:endParaRPr lang="en-US" sz="1800" dirty="0"/>
          </a:p>
        </p:txBody>
      </p:sp>
      <p:sp>
        <p:nvSpPr>
          <p:cNvPr id="6" name="Text 3"/>
          <p:cNvSpPr txBox="1"/>
          <p:nvPr/>
        </p:nvSpPr>
        <p:spPr>
          <a:xfrm>
            <a:off x="1508760" y="1764792"/>
            <a:ext cx="4297680" cy="548640"/>
          </a:xfrm>
          <a:prstGeom prst="rect">
            <a:avLst/>
          </a:prstGeom>
          <a:noFill/>
          <a:ln/>
        </p:spPr>
        <p:txBody>
          <a:bodyPr wrap="square" lIns="0" tIns="0" rIns="0" bIns="0" rtlCol="0" anchor="t"/>
          <a:lstStyle/>
          <a:p>
            <a:pPr indent="0" marL="0">
              <a:buNone/>
            </a:pPr>
            <a:r>
              <a:rPr lang="en-US" sz="1500" dirty="0">
                <a:solidFill>
                  <a:schemeClr val="tx2"/>
                </a:solidFill>
              </a:rPr>
              <a:t>Register, log in with JWT, and see only their own data.</a:t>
            </a:r>
            <a:endParaRPr lang="en-US" sz="1500" dirty="0"/>
          </a:p>
        </p:txBody>
      </p:sp>
      <p:sp>
        <p:nvSpPr>
          <p:cNvPr id="7" name="Shape 4"/>
          <p:cNvSpPr/>
          <p:nvPr/>
        </p:nvSpPr>
        <p:spPr>
          <a:xfrm>
            <a:off x="548640" y="2606040"/>
            <a:ext cx="731520" cy="73152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731520" y="2788920"/>
            <a:ext cx="365760" cy="365760"/>
          </a:xfrm>
          <a:prstGeom prst="rect">
            <a:avLst/>
          </a:prstGeom>
        </p:spPr>
      </p:pic>
      <p:sp>
        <p:nvSpPr>
          <p:cNvPr id="9" name="Text 5"/>
          <p:cNvSpPr txBox="1"/>
          <p:nvPr/>
        </p:nvSpPr>
        <p:spPr>
          <a:xfrm>
            <a:off x="1508760" y="2587752"/>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Projects</a:t>
            </a:r>
            <a:endParaRPr lang="en-US" sz="1800" dirty="0"/>
          </a:p>
        </p:txBody>
      </p:sp>
      <p:sp>
        <p:nvSpPr>
          <p:cNvPr id="10" name="Text 6"/>
          <p:cNvSpPr txBox="1"/>
          <p:nvPr/>
        </p:nvSpPr>
        <p:spPr>
          <a:xfrm>
            <a:off x="1508760" y="2953512"/>
            <a:ext cx="4297680" cy="548640"/>
          </a:xfrm>
          <a:prstGeom prst="rect">
            <a:avLst/>
          </a:prstGeom>
          <a:noFill/>
          <a:ln/>
        </p:spPr>
        <p:txBody>
          <a:bodyPr wrap="square" lIns="0" tIns="0" rIns="0" bIns="0" rtlCol="0" anchor="t"/>
          <a:lstStyle/>
          <a:p>
            <a:pPr indent="0" marL="0">
              <a:buNone/>
            </a:pPr>
            <a:r>
              <a:rPr lang="en-US" sz="1500" dirty="0">
                <a:solidFill>
                  <a:schemeClr val="tx2"/>
                </a:solidFill>
              </a:rPr>
              <a:t>Each user owns projects that group related work.</a:t>
            </a:r>
            <a:endParaRPr lang="en-US" sz="1500" dirty="0"/>
          </a:p>
        </p:txBody>
      </p:sp>
      <p:sp>
        <p:nvSpPr>
          <p:cNvPr id="11" name="Shape 7"/>
          <p:cNvSpPr/>
          <p:nvPr/>
        </p:nvSpPr>
        <p:spPr>
          <a:xfrm>
            <a:off x="548640" y="3794760"/>
            <a:ext cx="731520" cy="73152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731520" y="3977640"/>
            <a:ext cx="365760" cy="365760"/>
          </a:xfrm>
          <a:prstGeom prst="rect">
            <a:avLst/>
          </a:prstGeom>
        </p:spPr>
      </p:pic>
      <p:sp>
        <p:nvSpPr>
          <p:cNvPr id="13" name="Text 8"/>
          <p:cNvSpPr txBox="1"/>
          <p:nvPr/>
        </p:nvSpPr>
        <p:spPr>
          <a:xfrm>
            <a:off x="1508760" y="3776472"/>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Tasks</a:t>
            </a:r>
            <a:endParaRPr lang="en-US" sz="1800" dirty="0"/>
          </a:p>
        </p:txBody>
      </p:sp>
      <p:sp>
        <p:nvSpPr>
          <p:cNvPr id="14" name="Text 9"/>
          <p:cNvSpPr txBox="1"/>
          <p:nvPr/>
        </p:nvSpPr>
        <p:spPr>
          <a:xfrm>
            <a:off x="1508760" y="4142232"/>
            <a:ext cx="4297680" cy="548640"/>
          </a:xfrm>
          <a:prstGeom prst="rect">
            <a:avLst/>
          </a:prstGeom>
          <a:noFill/>
          <a:ln/>
        </p:spPr>
        <p:txBody>
          <a:bodyPr wrap="square" lIns="0" tIns="0" rIns="0" bIns="0" rtlCol="0" anchor="t"/>
          <a:lstStyle/>
          <a:p>
            <a:pPr indent="0" marL="0">
              <a:buNone/>
            </a:pPr>
            <a:r>
              <a:rPr lang="en-US" sz="1500" dirty="0">
                <a:solidFill>
                  <a:schemeClr val="tx2"/>
                </a:solidFill>
              </a:rPr>
              <a:t>Title, status, priority, assignee, and due date, with filters.</a:t>
            </a:r>
            <a:endParaRPr lang="en-US" sz="1500" dirty="0"/>
          </a:p>
        </p:txBody>
      </p:sp>
      <p:sp>
        <p:nvSpPr>
          <p:cNvPr id="15" name="Shape 10"/>
          <p:cNvSpPr/>
          <p:nvPr/>
        </p:nvSpPr>
        <p:spPr>
          <a:xfrm>
            <a:off x="548640" y="4983480"/>
            <a:ext cx="731520" cy="73152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731520" y="5166360"/>
            <a:ext cx="365760" cy="365760"/>
          </a:xfrm>
          <a:prstGeom prst="rect">
            <a:avLst/>
          </a:prstGeom>
        </p:spPr>
      </p:pic>
      <p:sp>
        <p:nvSpPr>
          <p:cNvPr id="17" name="Text 11"/>
          <p:cNvSpPr txBox="1"/>
          <p:nvPr/>
        </p:nvSpPr>
        <p:spPr>
          <a:xfrm>
            <a:off x="1508760" y="4965192"/>
            <a:ext cx="4206240" cy="365760"/>
          </a:xfrm>
          <a:prstGeom prst="rect">
            <a:avLst/>
          </a:prstGeom>
          <a:noFill/>
          <a:ln/>
        </p:spPr>
        <p:txBody>
          <a:bodyPr wrap="square" lIns="0" tIns="0" rIns="0" bIns="0" rtlCol="0" anchor="ctr"/>
          <a:lstStyle/>
          <a:p>
            <a:pPr indent="0" marL="0">
              <a:buNone/>
            </a:pPr>
            <a:r>
              <a:rPr lang="en-US" sz="1800" b="1" dirty="0">
                <a:solidFill>
                  <a:schemeClr val="tx1"/>
                </a:solidFill>
              </a:rPr>
              <a:t>Production habits</a:t>
            </a:r>
            <a:endParaRPr lang="en-US" sz="1800" dirty="0"/>
          </a:p>
        </p:txBody>
      </p:sp>
      <p:sp>
        <p:nvSpPr>
          <p:cNvPr id="18" name="Text 12"/>
          <p:cNvSpPr txBox="1"/>
          <p:nvPr/>
        </p:nvSpPr>
        <p:spPr>
          <a:xfrm>
            <a:off x="1508760" y="5330952"/>
            <a:ext cx="4297680" cy="548640"/>
          </a:xfrm>
          <a:prstGeom prst="rect">
            <a:avLst/>
          </a:prstGeom>
          <a:noFill/>
          <a:ln/>
        </p:spPr>
        <p:txBody>
          <a:bodyPr wrap="square" lIns="0" tIns="0" rIns="0" bIns="0" rtlCol="0" anchor="t"/>
          <a:lstStyle/>
          <a:p>
            <a:pPr indent="0" marL="0">
              <a:buNone/>
            </a:pPr>
            <a:r>
              <a:rPr lang="en-US" sz="1500" dirty="0">
                <a:solidFill>
                  <a:schemeClr val="tx2"/>
                </a:solidFill>
              </a:rPr>
              <a:t>Migrations, tests, config, logging, and Docker.</a:t>
            </a:r>
            <a:endParaRPr lang="en-US" sz="1500" dirty="0"/>
          </a:p>
        </p:txBody>
      </p:sp>
      <p:sp>
        <p:nvSpPr>
          <p:cNvPr id="19" name="Shape 13"/>
          <p:cNvSpPr/>
          <p:nvPr/>
        </p:nvSpPr>
        <p:spPr>
          <a:xfrm>
            <a:off x="6172200" y="1325880"/>
            <a:ext cx="5486400" cy="4937760"/>
          </a:xfrm>
          <a:prstGeom prst="roundRect">
            <a:avLst>
              <a:gd name="adj" fmla="val 2222"/>
            </a:avLst>
          </a:prstGeom>
          <a:solidFill>
            <a:schemeClr val="tx1"/>
          </a:solidFill>
          <a:ln w="12700">
            <a:solidFill>
              <a:schemeClr val="tx1"/>
            </a:solidFill>
            <a:prstDash val="solid"/>
          </a:ln>
        </p:spPr>
      </p:sp>
      <p:sp>
        <p:nvSpPr>
          <p:cNvPr id="20" name="Text 14"/>
          <p:cNvSpPr txBox="1"/>
          <p:nvPr/>
        </p:nvSpPr>
        <p:spPr>
          <a:xfrm>
            <a:off x="6446520" y="1554480"/>
            <a:ext cx="5029200" cy="4572000"/>
          </a:xfrm>
          <a:prstGeom prst="rect">
            <a:avLst/>
          </a:prstGeom>
          <a:noFill/>
          <a:ln/>
        </p:spPr>
        <p:txBody>
          <a:bodyPr wrap="square" lIns="0" tIns="0" rIns="0" bIns="0" rtlCol="0" anchor="t"/>
          <a:lstStyle/>
          <a:p>
            <a:pPr indent="0" marL="0">
              <a:buNone/>
            </a:pPr>
            <a:r>
              <a:rPr lang="en-US" sz="1600" dirty="0">
                <a:solidFill>
                  <a:schemeClr val="accent4"/>
                </a:solidFill>
                <a:latin typeface="Courier New" pitchFamily="34" charset="0"/>
                <a:ea typeface="Courier New" pitchFamily="34" charset="-122"/>
                <a:cs typeface="Courier New" pitchFamily="34" charset="-120"/>
              </a:rPr>
              <a:t># the full API surface</a:t>
            </a:r>
            <a:endParaRPr lang="en-US" sz="1600" dirty="0"/>
          </a:p>
          <a:p>
            <a:pPr indent="0" marL="0">
              <a:buNone/>
            </a:pPr>
            <a:r>
              <a:rPr lang="en-US" sz="1600" dirty="0">
                <a:solidFill>
                  <a:srgbClr val="000000"/>
                </a:solidFill>
                <a:latin typeface="Courier New" pitchFamily="34" charset="0"/>
                <a:ea typeface="Courier New" pitchFamily="34" charset="-122"/>
                <a:cs typeface="Courier New" pitchFamily="34" charset="-120"/>
              </a:rPr>
              <a:t> </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POST    </a:t>
            </a:r>
            <a:pPr indent="0" marL="0">
              <a:buNone/>
            </a:pPr>
            <a:r>
              <a:rPr lang="en-US" sz="1600" dirty="0">
                <a:solidFill>
                  <a:schemeClr val="bg2"/>
                </a:solidFill>
                <a:latin typeface="Courier New" pitchFamily="34" charset="0"/>
                <a:ea typeface="Courier New" pitchFamily="34" charset="-122"/>
                <a:cs typeface="Courier New" pitchFamily="34" charset="-120"/>
              </a:rPr>
              <a:t>/auth/register</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POST    </a:t>
            </a:r>
            <a:pPr indent="0" marL="0">
              <a:buNone/>
            </a:pPr>
            <a:r>
              <a:rPr lang="en-US" sz="1600" dirty="0">
                <a:solidFill>
                  <a:schemeClr val="bg2"/>
                </a:solidFill>
                <a:latin typeface="Courier New" pitchFamily="34" charset="0"/>
                <a:ea typeface="Courier New" pitchFamily="34" charset="-122"/>
                <a:cs typeface="Courier New" pitchFamily="34" charset="-120"/>
              </a:rPr>
              <a:t>/auth/login</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GET     </a:t>
            </a:r>
            <a:pPr indent="0" marL="0">
              <a:buNone/>
            </a:pPr>
            <a:r>
              <a:rPr lang="en-US" sz="1600" dirty="0">
                <a:solidFill>
                  <a:schemeClr val="bg2"/>
                </a:solidFill>
                <a:latin typeface="Courier New" pitchFamily="34" charset="0"/>
                <a:ea typeface="Courier New" pitchFamily="34" charset="-122"/>
                <a:cs typeface="Courier New" pitchFamily="34" charset="-120"/>
              </a:rPr>
              <a:t>/projects</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POST    </a:t>
            </a:r>
            <a:pPr indent="0" marL="0">
              <a:buNone/>
            </a:pPr>
            <a:r>
              <a:rPr lang="en-US" sz="1600" dirty="0">
                <a:solidFill>
                  <a:schemeClr val="bg2"/>
                </a:solidFill>
                <a:latin typeface="Courier New" pitchFamily="34" charset="0"/>
                <a:ea typeface="Courier New" pitchFamily="34" charset="-122"/>
                <a:cs typeface="Courier New" pitchFamily="34" charset="-120"/>
              </a:rPr>
              <a:t>/projects</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GET     </a:t>
            </a:r>
            <a:pPr indent="0" marL="0">
              <a:buNone/>
            </a:pPr>
            <a:r>
              <a:rPr lang="en-US" sz="1600" dirty="0">
                <a:solidFill>
                  <a:schemeClr val="bg2"/>
                </a:solidFill>
                <a:latin typeface="Courier New" pitchFamily="34" charset="0"/>
                <a:ea typeface="Courier New" pitchFamily="34" charset="-122"/>
                <a:cs typeface="Courier New" pitchFamily="34" charset="-120"/>
              </a:rPr>
              <a:t>/projects/{id}</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PATCH   </a:t>
            </a:r>
            <a:pPr indent="0" marL="0">
              <a:buNone/>
            </a:pPr>
            <a:r>
              <a:rPr lang="en-US" sz="1600" dirty="0">
                <a:solidFill>
                  <a:schemeClr val="bg2"/>
                </a:solidFill>
                <a:latin typeface="Courier New" pitchFamily="34" charset="0"/>
                <a:ea typeface="Courier New" pitchFamily="34" charset="-122"/>
                <a:cs typeface="Courier New" pitchFamily="34" charset="-120"/>
              </a:rPr>
              <a:t>/projects/{id}</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DELETE  </a:t>
            </a:r>
            <a:pPr indent="0" marL="0">
              <a:buNone/>
            </a:pPr>
            <a:r>
              <a:rPr lang="en-US" sz="1600" dirty="0">
                <a:solidFill>
                  <a:schemeClr val="bg2"/>
                </a:solidFill>
                <a:latin typeface="Courier New" pitchFamily="34" charset="0"/>
                <a:ea typeface="Courier New" pitchFamily="34" charset="-122"/>
                <a:cs typeface="Courier New" pitchFamily="34" charset="-120"/>
              </a:rPr>
              <a:t>/projects/{id}</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GET     </a:t>
            </a:r>
            <a:pPr indent="0" marL="0">
              <a:buNone/>
            </a:pPr>
            <a:r>
              <a:rPr lang="en-US" sz="1600" dirty="0">
                <a:solidFill>
                  <a:schemeClr val="bg2"/>
                </a:solidFill>
                <a:latin typeface="Courier New" pitchFamily="34" charset="0"/>
                <a:ea typeface="Courier New" pitchFamily="34" charset="-122"/>
                <a:cs typeface="Courier New" pitchFamily="34" charset="-120"/>
              </a:rPr>
              <a:t>/projects/{id}/tasks</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POST    </a:t>
            </a:r>
            <a:pPr indent="0" marL="0">
              <a:buNone/>
            </a:pPr>
            <a:r>
              <a:rPr lang="en-US" sz="1600" dirty="0">
                <a:solidFill>
                  <a:schemeClr val="bg2"/>
                </a:solidFill>
                <a:latin typeface="Courier New" pitchFamily="34" charset="0"/>
                <a:ea typeface="Courier New" pitchFamily="34" charset="-122"/>
                <a:cs typeface="Courier New" pitchFamily="34" charset="-120"/>
              </a:rPr>
              <a:t>/projects/{id}/tasks</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GET     </a:t>
            </a:r>
            <a:pPr indent="0" marL="0">
              <a:buNone/>
            </a:pPr>
            <a:r>
              <a:rPr lang="en-US" sz="1600" dirty="0">
                <a:solidFill>
                  <a:schemeClr val="bg2"/>
                </a:solidFill>
                <a:latin typeface="Courier New" pitchFamily="34" charset="0"/>
                <a:ea typeface="Courier New" pitchFamily="34" charset="-122"/>
                <a:cs typeface="Courier New" pitchFamily="34" charset="-120"/>
              </a:rPr>
              <a:t>/tasks/{id}</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PATCH   </a:t>
            </a:r>
            <a:pPr indent="0" marL="0">
              <a:buNone/>
            </a:pPr>
            <a:r>
              <a:rPr lang="en-US" sz="1600" dirty="0">
                <a:solidFill>
                  <a:schemeClr val="bg2"/>
                </a:solidFill>
                <a:latin typeface="Courier New" pitchFamily="34" charset="0"/>
                <a:ea typeface="Courier New" pitchFamily="34" charset="-122"/>
                <a:cs typeface="Courier New" pitchFamily="34" charset="-120"/>
              </a:rPr>
              <a:t>/tasks/{id}</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DELETE  </a:t>
            </a:r>
            <a:pPr indent="0" marL="0">
              <a:buNone/>
            </a:pPr>
            <a:r>
              <a:rPr lang="en-US" sz="1600" dirty="0">
                <a:solidFill>
                  <a:schemeClr val="bg2"/>
                </a:solidFill>
                <a:latin typeface="Courier New" pitchFamily="34" charset="0"/>
                <a:ea typeface="Courier New" pitchFamily="34" charset="-122"/>
                <a:cs typeface="Courier New" pitchFamily="34" charset="-120"/>
              </a:rPr>
              <a:t>/tasks/{id}</a:t>
            </a:r>
            <a:endParaRPr lang="en-US" sz="1600" dirty="0"/>
          </a:p>
          <a:p>
            <a:pPr indent="0" marL="0">
              <a:buNone/>
            </a:pPr>
            <a:r>
              <a:rPr lang="en-US" sz="1600" b="1" dirty="0">
                <a:solidFill>
                  <a:schemeClr val="accent2"/>
                </a:solidFill>
                <a:latin typeface="Courier New" pitchFamily="34" charset="0"/>
                <a:ea typeface="Courier New" pitchFamily="34" charset="-122"/>
                <a:cs typeface="Courier New" pitchFamily="34" charset="-120"/>
              </a:rPr>
              <a:t>POST    </a:t>
            </a:r>
            <a:pPr indent="0" marL="0">
              <a:buNone/>
            </a:pPr>
            <a:r>
              <a:rPr lang="en-US" sz="1600" dirty="0">
                <a:solidFill>
                  <a:schemeClr val="bg2"/>
                </a:solidFill>
                <a:latin typeface="Courier New" pitchFamily="34" charset="0"/>
                <a:ea typeface="Courier New" pitchFamily="34" charset="-122"/>
                <a:cs typeface="Courier New" pitchFamily="34" charset="-120"/>
              </a:rPr>
              <a:t>/tasks/{id}/assign</a:t>
            </a:r>
            <a:endParaRPr lang="en-US" sz="16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stack, one tool per job</a:t>
            </a:r>
            <a:endParaRPr lang="en-US" sz="3200" dirty="0"/>
          </a:p>
        </p:txBody>
      </p:sp>
      <p:sp>
        <p:nvSpPr>
          <p:cNvPr id="3" name="Shape 1"/>
          <p:cNvSpPr/>
          <p:nvPr/>
        </p:nvSpPr>
        <p:spPr>
          <a:xfrm>
            <a:off x="548640" y="1417320"/>
            <a:ext cx="2035454" cy="2148840"/>
          </a:xfrm>
          <a:prstGeom prst="roundRect">
            <a:avLst>
              <a:gd name="adj" fmla="val 5391"/>
            </a:avLst>
          </a:prstGeom>
          <a:solidFill>
            <a:schemeClr val="bg2"/>
          </a:solidFill>
          <a:ln w="12700">
            <a:solidFill>
              <a:schemeClr val="bg2"/>
            </a:solidFill>
            <a:prstDash val="solid"/>
          </a:ln>
        </p:spPr>
      </p:sp>
      <p:sp>
        <p:nvSpPr>
          <p:cNvPr id="4" name="Text 2"/>
          <p:cNvSpPr txBox="1"/>
          <p:nvPr/>
        </p:nvSpPr>
        <p:spPr>
          <a:xfrm>
            <a:off x="777240" y="169164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LANGUAGE</a:t>
            </a:r>
            <a:endParaRPr lang="en-US" sz="1200" dirty="0"/>
          </a:p>
        </p:txBody>
      </p:sp>
      <p:sp>
        <p:nvSpPr>
          <p:cNvPr id="5" name="Text 3"/>
          <p:cNvSpPr txBox="1"/>
          <p:nvPr/>
        </p:nvSpPr>
        <p:spPr>
          <a:xfrm>
            <a:off x="777240" y="205740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Python 3.12</a:t>
            </a:r>
            <a:endParaRPr lang="en-US" sz="1900" dirty="0"/>
          </a:p>
        </p:txBody>
      </p:sp>
      <p:sp>
        <p:nvSpPr>
          <p:cNvPr id="6" name="Text 4"/>
          <p:cNvSpPr txBox="1"/>
          <p:nvPr/>
        </p:nvSpPr>
        <p:spPr>
          <a:xfrm>
            <a:off x="777240" y="2606040"/>
            <a:ext cx="1578254" cy="731520"/>
          </a:xfrm>
          <a:prstGeom prst="rect">
            <a:avLst/>
          </a:prstGeom>
          <a:noFill/>
          <a:ln/>
        </p:spPr>
        <p:txBody>
          <a:bodyPr wrap="square" lIns="0" tIns="0" rIns="0" bIns="0" rtlCol="0" anchor="t"/>
          <a:lstStyle/>
          <a:p>
            <a:pPr indent="0" marL="0">
              <a:buNone/>
            </a:pPr>
            <a:r>
              <a:rPr lang="en-US" sz="1400" dirty="0">
                <a:solidFill>
                  <a:schemeClr val="tx2"/>
                </a:solidFill>
              </a:rPr>
              <a:t>Modern typing and async</a:t>
            </a:r>
            <a:endParaRPr lang="en-US" sz="1400" dirty="0"/>
          </a:p>
        </p:txBody>
      </p:sp>
      <p:sp>
        <p:nvSpPr>
          <p:cNvPr id="7" name="Shape 5"/>
          <p:cNvSpPr/>
          <p:nvPr/>
        </p:nvSpPr>
        <p:spPr>
          <a:xfrm>
            <a:off x="2812694" y="1417320"/>
            <a:ext cx="2035454" cy="2148840"/>
          </a:xfrm>
          <a:prstGeom prst="roundRect">
            <a:avLst>
              <a:gd name="adj" fmla="val 5391"/>
            </a:avLst>
          </a:prstGeom>
          <a:solidFill>
            <a:schemeClr val="bg2"/>
          </a:solidFill>
          <a:ln w="12700">
            <a:solidFill>
              <a:schemeClr val="bg2"/>
            </a:solidFill>
            <a:prstDash val="solid"/>
          </a:ln>
        </p:spPr>
      </p:sp>
      <p:sp>
        <p:nvSpPr>
          <p:cNvPr id="8" name="Text 6"/>
          <p:cNvSpPr txBox="1"/>
          <p:nvPr/>
        </p:nvSpPr>
        <p:spPr>
          <a:xfrm>
            <a:off x="3041294" y="169164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TOOLING</a:t>
            </a:r>
            <a:endParaRPr lang="en-US" sz="1200" dirty="0"/>
          </a:p>
        </p:txBody>
      </p:sp>
      <p:sp>
        <p:nvSpPr>
          <p:cNvPr id="9" name="Text 7"/>
          <p:cNvSpPr txBox="1"/>
          <p:nvPr/>
        </p:nvSpPr>
        <p:spPr>
          <a:xfrm>
            <a:off x="3041294" y="205740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uv</a:t>
            </a:r>
            <a:endParaRPr lang="en-US" sz="1900" dirty="0"/>
          </a:p>
        </p:txBody>
      </p:sp>
      <p:sp>
        <p:nvSpPr>
          <p:cNvPr id="10" name="Text 8"/>
          <p:cNvSpPr txBox="1"/>
          <p:nvPr/>
        </p:nvSpPr>
        <p:spPr>
          <a:xfrm>
            <a:off x="3041294" y="2606040"/>
            <a:ext cx="1578254" cy="731520"/>
          </a:xfrm>
          <a:prstGeom prst="rect">
            <a:avLst/>
          </a:prstGeom>
          <a:noFill/>
          <a:ln/>
        </p:spPr>
        <p:txBody>
          <a:bodyPr wrap="square" lIns="0" tIns="0" rIns="0" bIns="0" rtlCol="0" anchor="t"/>
          <a:lstStyle/>
          <a:p>
            <a:pPr indent="0" marL="0">
              <a:buNone/>
            </a:pPr>
            <a:r>
              <a:rPr lang="en-US" sz="1400" dirty="0">
                <a:solidFill>
                  <a:schemeClr val="tx2"/>
                </a:solidFill>
              </a:rPr>
              <a:t>Environment, dependencies, running</a:t>
            </a:r>
            <a:endParaRPr lang="en-US" sz="1400" dirty="0"/>
          </a:p>
        </p:txBody>
      </p:sp>
      <p:sp>
        <p:nvSpPr>
          <p:cNvPr id="11" name="Shape 9"/>
          <p:cNvSpPr/>
          <p:nvPr/>
        </p:nvSpPr>
        <p:spPr>
          <a:xfrm>
            <a:off x="5076749" y="1417320"/>
            <a:ext cx="2035454" cy="2148840"/>
          </a:xfrm>
          <a:prstGeom prst="roundRect">
            <a:avLst>
              <a:gd name="adj" fmla="val 5391"/>
            </a:avLst>
          </a:prstGeom>
          <a:solidFill>
            <a:schemeClr val="bg2"/>
          </a:solidFill>
          <a:ln w="12700">
            <a:solidFill>
              <a:schemeClr val="bg2"/>
            </a:solidFill>
            <a:prstDash val="solid"/>
          </a:ln>
        </p:spPr>
      </p:sp>
      <p:sp>
        <p:nvSpPr>
          <p:cNvPr id="12" name="Text 10"/>
          <p:cNvSpPr txBox="1"/>
          <p:nvPr/>
        </p:nvSpPr>
        <p:spPr>
          <a:xfrm>
            <a:off x="5305349" y="169164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FRAMEWORK</a:t>
            </a:r>
            <a:endParaRPr lang="en-US" sz="1200" dirty="0"/>
          </a:p>
        </p:txBody>
      </p:sp>
      <p:sp>
        <p:nvSpPr>
          <p:cNvPr id="13" name="Text 11"/>
          <p:cNvSpPr txBox="1"/>
          <p:nvPr/>
        </p:nvSpPr>
        <p:spPr>
          <a:xfrm>
            <a:off x="5305349" y="205740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FastAPI</a:t>
            </a:r>
            <a:endParaRPr lang="en-US" sz="1900" dirty="0"/>
          </a:p>
        </p:txBody>
      </p:sp>
      <p:sp>
        <p:nvSpPr>
          <p:cNvPr id="14" name="Text 12"/>
          <p:cNvSpPr txBox="1"/>
          <p:nvPr/>
        </p:nvSpPr>
        <p:spPr>
          <a:xfrm>
            <a:off x="5305349" y="2606040"/>
            <a:ext cx="1578254" cy="731520"/>
          </a:xfrm>
          <a:prstGeom prst="rect">
            <a:avLst/>
          </a:prstGeom>
          <a:noFill/>
          <a:ln/>
        </p:spPr>
        <p:txBody>
          <a:bodyPr wrap="square" lIns="0" tIns="0" rIns="0" bIns="0" rtlCol="0" anchor="t"/>
          <a:lstStyle/>
          <a:p>
            <a:pPr indent="0" marL="0">
              <a:buNone/>
            </a:pPr>
            <a:r>
              <a:rPr lang="en-US" sz="1400" dirty="0">
                <a:solidFill>
                  <a:schemeClr val="tx2"/>
                </a:solidFill>
              </a:rPr>
              <a:t>Routing, DI, OpenAPI docs</a:t>
            </a:r>
            <a:endParaRPr lang="en-US" sz="1400" dirty="0"/>
          </a:p>
        </p:txBody>
      </p:sp>
      <p:sp>
        <p:nvSpPr>
          <p:cNvPr id="15" name="Shape 13"/>
          <p:cNvSpPr/>
          <p:nvPr/>
        </p:nvSpPr>
        <p:spPr>
          <a:xfrm>
            <a:off x="7340803" y="1417320"/>
            <a:ext cx="2035454" cy="2148840"/>
          </a:xfrm>
          <a:prstGeom prst="roundRect">
            <a:avLst>
              <a:gd name="adj" fmla="val 5391"/>
            </a:avLst>
          </a:prstGeom>
          <a:solidFill>
            <a:schemeClr val="bg2"/>
          </a:solidFill>
          <a:ln w="12700">
            <a:solidFill>
              <a:schemeClr val="bg2"/>
            </a:solidFill>
            <a:prstDash val="solid"/>
          </a:ln>
        </p:spPr>
      </p:sp>
      <p:sp>
        <p:nvSpPr>
          <p:cNvPr id="16" name="Text 14"/>
          <p:cNvSpPr txBox="1"/>
          <p:nvPr/>
        </p:nvSpPr>
        <p:spPr>
          <a:xfrm>
            <a:off x="7569403" y="169164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VALIDATION</a:t>
            </a:r>
            <a:endParaRPr lang="en-US" sz="1200" dirty="0"/>
          </a:p>
        </p:txBody>
      </p:sp>
      <p:sp>
        <p:nvSpPr>
          <p:cNvPr id="17" name="Text 15"/>
          <p:cNvSpPr txBox="1"/>
          <p:nvPr/>
        </p:nvSpPr>
        <p:spPr>
          <a:xfrm>
            <a:off x="7569403" y="205740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Pydantic v2</a:t>
            </a:r>
            <a:endParaRPr lang="en-US" sz="1900" dirty="0"/>
          </a:p>
        </p:txBody>
      </p:sp>
      <p:sp>
        <p:nvSpPr>
          <p:cNvPr id="18" name="Text 16"/>
          <p:cNvSpPr txBox="1"/>
          <p:nvPr/>
        </p:nvSpPr>
        <p:spPr>
          <a:xfrm>
            <a:off x="7569403" y="2606040"/>
            <a:ext cx="1578254" cy="731520"/>
          </a:xfrm>
          <a:prstGeom prst="rect">
            <a:avLst/>
          </a:prstGeom>
          <a:noFill/>
          <a:ln/>
        </p:spPr>
        <p:txBody>
          <a:bodyPr wrap="square" lIns="0" tIns="0" rIns="0" bIns="0" rtlCol="0" anchor="t"/>
          <a:lstStyle/>
          <a:p>
            <a:pPr indent="0" marL="0">
              <a:buNone/>
            </a:pPr>
            <a:r>
              <a:rPr lang="en-US" sz="1400" dirty="0">
                <a:solidFill>
                  <a:schemeClr val="tx2"/>
                </a:solidFill>
              </a:rPr>
              <a:t>Request and response schemas</a:t>
            </a:r>
            <a:endParaRPr lang="en-US" sz="1400" dirty="0"/>
          </a:p>
        </p:txBody>
      </p:sp>
      <p:sp>
        <p:nvSpPr>
          <p:cNvPr id="19" name="Shape 17"/>
          <p:cNvSpPr/>
          <p:nvPr/>
        </p:nvSpPr>
        <p:spPr>
          <a:xfrm>
            <a:off x="9604858" y="1417320"/>
            <a:ext cx="2035454" cy="2148840"/>
          </a:xfrm>
          <a:prstGeom prst="roundRect">
            <a:avLst>
              <a:gd name="adj" fmla="val 5391"/>
            </a:avLst>
          </a:prstGeom>
          <a:solidFill>
            <a:schemeClr val="bg2"/>
          </a:solidFill>
          <a:ln w="12700">
            <a:solidFill>
              <a:schemeClr val="bg2"/>
            </a:solidFill>
            <a:prstDash val="solid"/>
          </a:ln>
        </p:spPr>
      </p:sp>
      <p:sp>
        <p:nvSpPr>
          <p:cNvPr id="20" name="Text 18"/>
          <p:cNvSpPr txBox="1"/>
          <p:nvPr/>
        </p:nvSpPr>
        <p:spPr>
          <a:xfrm>
            <a:off x="9833458" y="169164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ORM</a:t>
            </a:r>
            <a:endParaRPr lang="en-US" sz="1200" dirty="0"/>
          </a:p>
        </p:txBody>
      </p:sp>
      <p:sp>
        <p:nvSpPr>
          <p:cNvPr id="21" name="Text 19"/>
          <p:cNvSpPr txBox="1"/>
          <p:nvPr/>
        </p:nvSpPr>
        <p:spPr>
          <a:xfrm>
            <a:off x="9833458" y="205740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SQLAlchemy 2.0</a:t>
            </a:r>
            <a:endParaRPr lang="en-US" sz="1900" dirty="0"/>
          </a:p>
        </p:txBody>
      </p:sp>
      <p:sp>
        <p:nvSpPr>
          <p:cNvPr id="22" name="Text 20"/>
          <p:cNvSpPr txBox="1"/>
          <p:nvPr/>
        </p:nvSpPr>
        <p:spPr>
          <a:xfrm>
            <a:off x="9833458" y="2606040"/>
            <a:ext cx="1578254" cy="731520"/>
          </a:xfrm>
          <a:prstGeom prst="rect">
            <a:avLst/>
          </a:prstGeom>
          <a:noFill/>
          <a:ln/>
        </p:spPr>
        <p:txBody>
          <a:bodyPr wrap="square" lIns="0" tIns="0" rIns="0" bIns="0" rtlCol="0" anchor="t"/>
          <a:lstStyle/>
          <a:p>
            <a:pPr indent="0" marL="0">
              <a:buNone/>
            </a:pPr>
            <a:r>
              <a:rPr lang="en-US" sz="1400" dirty="0">
                <a:solidFill>
                  <a:schemeClr val="tx2"/>
                </a:solidFill>
              </a:rPr>
              <a:t>Typed models and queries</a:t>
            </a:r>
            <a:endParaRPr lang="en-US" sz="1400" dirty="0"/>
          </a:p>
        </p:txBody>
      </p:sp>
      <p:sp>
        <p:nvSpPr>
          <p:cNvPr id="23" name="Shape 21"/>
          <p:cNvSpPr/>
          <p:nvPr/>
        </p:nvSpPr>
        <p:spPr>
          <a:xfrm>
            <a:off x="548640" y="3840480"/>
            <a:ext cx="2035454" cy="2148840"/>
          </a:xfrm>
          <a:prstGeom prst="roundRect">
            <a:avLst>
              <a:gd name="adj" fmla="val 5391"/>
            </a:avLst>
          </a:prstGeom>
          <a:solidFill>
            <a:schemeClr val="bg2"/>
          </a:solidFill>
          <a:ln w="12700">
            <a:solidFill>
              <a:schemeClr val="bg2"/>
            </a:solidFill>
            <a:prstDash val="solid"/>
          </a:ln>
        </p:spPr>
      </p:sp>
      <p:sp>
        <p:nvSpPr>
          <p:cNvPr id="24" name="Text 22"/>
          <p:cNvSpPr txBox="1"/>
          <p:nvPr/>
        </p:nvSpPr>
        <p:spPr>
          <a:xfrm>
            <a:off x="777240" y="411480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DATABASE</a:t>
            </a:r>
            <a:endParaRPr lang="en-US" sz="1200" dirty="0"/>
          </a:p>
        </p:txBody>
      </p:sp>
      <p:sp>
        <p:nvSpPr>
          <p:cNvPr id="25" name="Text 23"/>
          <p:cNvSpPr txBox="1"/>
          <p:nvPr/>
        </p:nvSpPr>
        <p:spPr>
          <a:xfrm>
            <a:off x="777240" y="448056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PostgreSQL</a:t>
            </a:r>
            <a:endParaRPr lang="en-US" sz="1900" dirty="0"/>
          </a:p>
        </p:txBody>
      </p:sp>
      <p:sp>
        <p:nvSpPr>
          <p:cNvPr id="26" name="Text 24"/>
          <p:cNvSpPr txBox="1"/>
          <p:nvPr/>
        </p:nvSpPr>
        <p:spPr>
          <a:xfrm>
            <a:off x="777240" y="5029200"/>
            <a:ext cx="1578254" cy="731520"/>
          </a:xfrm>
          <a:prstGeom prst="rect">
            <a:avLst/>
          </a:prstGeom>
          <a:noFill/>
          <a:ln/>
        </p:spPr>
        <p:txBody>
          <a:bodyPr wrap="square" lIns="0" tIns="0" rIns="0" bIns="0" rtlCol="0" anchor="t"/>
          <a:lstStyle/>
          <a:p>
            <a:pPr indent="0" marL="0">
              <a:buNone/>
            </a:pPr>
            <a:r>
              <a:rPr lang="en-US" sz="1400" dirty="0">
                <a:solidFill>
                  <a:schemeClr val="tx2"/>
                </a:solidFill>
              </a:rPr>
              <a:t>Runs in Docker Compose</a:t>
            </a:r>
            <a:endParaRPr lang="en-US" sz="1400" dirty="0"/>
          </a:p>
        </p:txBody>
      </p:sp>
      <p:sp>
        <p:nvSpPr>
          <p:cNvPr id="27" name="Shape 25"/>
          <p:cNvSpPr/>
          <p:nvPr/>
        </p:nvSpPr>
        <p:spPr>
          <a:xfrm>
            <a:off x="2812694" y="3840480"/>
            <a:ext cx="2035454" cy="2148840"/>
          </a:xfrm>
          <a:prstGeom prst="roundRect">
            <a:avLst>
              <a:gd name="adj" fmla="val 5391"/>
            </a:avLst>
          </a:prstGeom>
          <a:solidFill>
            <a:schemeClr val="bg2"/>
          </a:solidFill>
          <a:ln w="12700">
            <a:solidFill>
              <a:schemeClr val="bg2"/>
            </a:solidFill>
            <a:prstDash val="solid"/>
          </a:ln>
        </p:spPr>
      </p:sp>
      <p:sp>
        <p:nvSpPr>
          <p:cNvPr id="28" name="Text 26"/>
          <p:cNvSpPr txBox="1"/>
          <p:nvPr/>
        </p:nvSpPr>
        <p:spPr>
          <a:xfrm>
            <a:off x="3041294" y="411480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MIGRATIONS</a:t>
            </a:r>
            <a:endParaRPr lang="en-US" sz="1200" dirty="0"/>
          </a:p>
        </p:txBody>
      </p:sp>
      <p:sp>
        <p:nvSpPr>
          <p:cNvPr id="29" name="Text 27"/>
          <p:cNvSpPr txBox="1"/>
          <p:nvPr/>
        </p:nvSpPr>
        <p:spPr>
          <a:xfrm>
            <a:off x="3041294" y="448056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Alembic</a:t>
            </a:r>
            <a:endParaRPr lang="en-US" sz="1900" dirty="0"/>
          </a:p>
        </p:txBody>
      </p:sp>
      <p:sp>
        <p:nvSpPr>
          <p:cNvPr id="30" name="Text 28"/>
          <p:cNvSpPr txBox="1"/>
          <p:nvPr/>
        </p:nvSpPr>
        <p:spPr>
          <a:xfrm>
            <a:off x="3041294" y="5029200"/>
            <a:ext cx="1578254" cy="731520"/>
          </a:xfrm>
          <a:prstGeom prst="rect">
            <a:avLst/>
          </a:prstGeom>
          <a:noFill/>
          <a:ln/>
        </p:spPr>
        <p:txBody>
          <a:bodyPr wrap="square" lIns="0" tIns="0" rIns="0" bIns="0" rtlCol="0" anchor="t"/>
          <a:lstStyle/>
          <a:p>
            <a:pPr indent="0" marL="0">
              <a:buNone/>
            </a:pPr>
            <a:r>
              <a:rPr lang="en-US" sz="1400" dirty="0">
                <a:solidFill>
                  <a:schemeClr val="tx2"/>
                </a:solidFill>
              </a:rPr>
              <a:t>Versioned schema in Git</a:t>
            </a:r>
            <a:endParaRPr lang="en-US" sz="1400" dirty="0"/>
          </a:p>
        </p:txBody>
      </p:sp>
      <p:sp>
        <p:nvSpPr>
          <p:cNvPr id="31" name="Shape 29"/>
          <p:cNvSpPr/>
          <p:nvPr/>
        </p:nvSpPr>
        <p:spPr>
          <a:xfrm>
            <a:off x="5076749" y="3840480"/>
            <a:ext cx="2035454" cy="2148840"/>
          </a:xfrm>
          <a:prstGeom prst="roundRect">
            <a:avLst>
              <a:gd name="adj" fmla="val 5391"/>
            </a:avLst>
          </a:prstGeom>
          <a:solidFill>
            <a:schemeClr val="bg2"/>
          </a:solidFill>
          <a:ln w="12700">
            <a:solidFill>
              <a:schemeClr val="bg2"/>
            </a:solidFill>
            <a:prstDash val="solid"/>
          </a:ln>
        </p:spPr>
      </p:sp>
      <p:sp>
        <p:nvSpPr>
          <p:cNvPr id="32" name="Text 30"/>
          <p:cNvSpPr txBox="1"/>
          <p:nvPr/>
        </p:nvSpPr>
        <p:spPr>
          <a:xfrm>
            <a:off x="5305349" y="411480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TESTING</a:t>
            </a:r>
            <a:endParaRPr lang="en-US" sz="1200" dirty="0"/>
          </a:p>
        </p:txBody>
      </p:sp>
      <p:sp>
        <p:nvSpPr>
          <p:cNvPr id="33" name="Text 31"/>
          <p:cNvSpPr txBox="1"/>
          <p:nvPr/>
        </p:nvSpPr>
        <p:spPr>
          <a:xfrm>
            <a:off x="5305349" y="448056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pytest</a:t>
            </a:r>
            <a:endParaRPr lang="en-US" sz="1900" dirty="0"/>
          </a:p>
        </p:txBody>
      </p:sp>
      <p:sp>
        <p:nvSpPr>
          <p:cNvPr id="34" name="Text 32"/>
          <p:cNvSpPr txBox="1"/>
          <p:nvPr/>
        </p:nvSpPr>
        <p:spPr>
          <a:xfrm>
            <a:off x="5305349" y="5029200"/>
            <a:ext cx="1578254" cy="731520"/>
          </a:xfrm>
          <a:prstGeom prst="rect">
            <a:avLst/>
          </a:prstGeom>
          <a:noFill/>
          <a:ln/>
        </p:spPr>
        <p:txBody>
          <a:bodyPr wrap="square" lIns="0" tIns="0" rIns="0" bIns="0" rtlCol="0" anchor="t"/>
          <a:lstStyle/>
          <a:p>
            <a:pPr indent="0" marL="0">
              <a:buNone/>
            </a:pPr>
            <a:r>
              <a:rPr lang="en-US" sz="1400" dirty="0">
                <a:solidFill>
                  <a:schemeClr val="tx2"/>
                </a:solidFill>
              </a:rPr>
              <a:t>With FastAPI TestClient</a:t>
            </a:r>
            <a:endParaRPr lang="en-US" sz="1400" dirty="0"/>
          </a:p>
        </p:txBody>
      </p:sp>
      <p:sp>
        <p:nvSpPr>
          <p:cNvPr id="35" name="Shape 33"/>
          <p:cNvSpPr/>
          <p:nvPr/>
        </p:nvSpPr>
        <p:spPr>
          <a:xfrm>
            <a:off x="7340803" y="3840480"/>
            <a:ext cx="2035454" cy="2148840"/>
          </a:xfrm>
          <a:prstGeom prst="roundRect">
            <a:avLst>
              <a:gd name="adj" fmla="val 5391"/>
            </a:avLst>
          </a:prstGeom>
          <a:solidFill>
            <a:schemeClr val="bg2"/>
          </a:solidFill>
          <a:ln w="12700">
            <a:solidFill>
              <a:schemeClr val="bg2"/>
            </a:solidFill>
            <a:prstDash val="solid"/>
          </a:ln>
        </p:spPr>
      </p:sp>
      <p:sp>
        <p:nvSpPr>
          <p:cNvPr id="36" name="Text 34"/>
          <p:cNvSpPr txBox="1"/>
          <p:nvPr/>
        </p:nvSpPr>
        <p:spPr>
          <a:xfrm>
            <a:off x="7569403" y="411480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QUALITY</a:t>
            </a:r>
            <a:endParaRPr lang="en-US" sz="1200" dirty="0"/>
          </a:p>
        </p:txBody>
      </p:sp>
      <p:sp>
        <p:nvSpPr>
          <p:cNvPr id="37" name="Text 35"/>
          <p:cNvSpPr txBox="1"/>
          <p:nvPr/>
        </p:nvSpPr>
        <p:spPr>
          <a:xfrm>
            <a:off x="7569403" y="448056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ruff</a:t>
            </a:r>
            <a:endParaRPr lang="en-US" sz="1900" dirty="0"/>
          </a:p>
        </p:txBody>
      </p:sp>
      <p:sp>
        <p:nvSpPr>
          <p:cNvPr id="38" name="Text 36"/>
          <p:cNvSpPr txBox="1"/>
          <p:nvPr/>
        </p:nvSpPr>
        <p:spPr>
          <a:xfrm>
            <a:off x="7569403" y="5029200"/>
            <a:ext cx="1578254" cy="731520"/>
          </a:xfrm>
          <a:prstGeom prst="rect">
            <a:avLst/>
          </a:prstGeom>
          <a:noFill/>
          <a:ln/>
        </p:spPr>
        <p:txBody>
          <a:bodyPr wrap="square" lIns="0" tIns="0" rIns="0" bIns="0" rtlCol="0" anchor="t"/>
          <a:lstStyle/>
          <a:p>
            <a:pPr indent="0" marL="0">
              <a:buNone/>
            </a:pPr>
            <a:r>
              <a:rPr lang="en-US" sz="1400" dirty="0">
                <a:solidFill>
                  <a:schemeClr val="tx2"/>
                </a:solidFill>
              </a:rPr>
              <a:t>Lint and format in one tool</a:t>
            </a:r>
            <a:endParaRPr lang="en-US" sz="1400" dirty="0"/>
          </a:p>
        </p:txBody>
      </p:sp>
      <p:sp>
        <p:nvSpPr>
          <p:cNvPr id="39" name="Shape 37"/>
          <p:cNvSpPr/>
          <p:nvPr/>
        </p:nvSpPr>
        <p:spPr>
          <a:xfrm>
            <a:off x="9604858" y="3840480"/>
            <a:ext cx="2035454" cy="2148840"/>
          </a:xfrm>
          <a:prstGeom prst="roundRect">
            <a:avLst>
              <a:gd name="adj" fmla="val 5391"/>
            </a:avLst>
          </a:prstGeom>
          <a:solidFill>
            <a:schemeClr val="bg2"/>
          </a:solidFill>
          <a:ln w="12700">
            <a:solidFill>
              <a:schemeClr val="bg2"/>
            </a:solidFill>
            <a:prstDash val="solid"/>
          </a:ln>
        </p:spPr>
      </p:sp>
      <p:sp>
        <p:nvSpPr>
          <p:cNvPr id="40" name="Text 38"/>
          <p:cNvSpPr txBox="1"/>
          <p:nvPr/>
        </p:nvSpPr>
        <p:spPr>
          <a:xfrm>
            <a:off x="9833458" y="4114800"/>
            <a:ext cx="1578254"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SHIPPING</a:t>
            </a:r>
            <a:endParaRPr lang="en-US" sz="1200" dirty="0"/>
          </a:p>
        </p:txBody>
      </p:sp>
      <p:sp>
        <p:nvSpPr>
          <p:cNvPr id="41" name="Text 39"/>
          <p:cNvSpPr txBox="1"/>
          <p:nvPr/>
        </p:nvSpPr>
        <p:spPr>
          <a:xfrm>
            <a:off x="9833458" y="4480560"/>
            <a:ext cx="1578254" cy="457200"/>
          </a:xfrm>
          <a:prstGeom prst="rect">
            <a:avLst/>
          </a:prstGeom>
          <a:noFill/>
          <a:ln/>
        </p:spPr>
        <p:txBody>
          <a:bodyPr wrap="square" lIns="0" tIns="0" rIns="0" bIns="0" rtlCol="0" anchor="ctr"/>
          <a:lstStyle/>
          <a:p>
            <a:pPr indent="0" marL="0">
              <a:buNone/>
            </a:pPr>
            <a:r>
              <a:rPr lang="en-US" sz="1900" b="1" dirty="0">
                <a:solidFill>
                  <a:schemeClr val="tx1"/>
                </a:solidFill>
              </a:rPr>
              <a:t>Docker</a:t>
            </a:r>
            <a:endParaRPr lang="en-US" sz="1900" dirty="0"/>
          </a:p>
        </p:txBody>
      </p:sp>
      <p:sp>
        <p:nvSpPr>
          <p:cNvPr id="42" name="Text 40"/>
          <p:cNvSpPr txBox="1"/>
          <p:nvPr/>
        </p:nvSpPr>
        <p:spPr>
          <a:xfrm>
            <a:off x="9833458" y="5029200"/>
            <a:ext cx="1578254" cy="731520"/>
          </a:xfrm>
          <a:prstGeom prst="rect">
            <a:avLst/>
          </a:prstGeom>
          <a:noFill/>
          <a:ln/>
        </p:spPr>
        <p:txBody>
          <a:bodyPr wrap="square" lIns="0" tIns="0" rIns="0" bIns="0" rtlCol="0" anchor="t"/>
          <a:lstStyle/>
          <a:p>
            <a:pPr indent="0" marL="0">
              <a:buNone/>
            </a:pPr>
            <a:r>
              <a:rPr lang="en-US" sz="1400" dirty="0">
                <a:solidFill>
                  <a:schemeClr val="tx2"/>
                </a:solidFill>
              </a:rPr>
              <a:t>Compose for api and db</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Project structure: one responsibility per layer</a:t>
            </a:r>
            <a:endParaRPr lang="en-US" sz="3200" dirty="0"/>
          </a:p>
        </p:txBody>
      </p:sp>
      <p:sp>
        <p:nvSpPr>
          <p:cNvPr id="3" name="Shape 1"/>
          <p:cNvSpPr/>
          <p:nvPr/>
        </p:nvSpPr>
        <p:spPr>
          <a:xfrm>
            <a:off x="548640" y="1325880"/>
            <a:ext cx="5577840" cy="4937760"/>
          </a:xfrm>
          <a:prstGeom prst="roundRect">
            <a:avLst>
              <a:gd name="adj" fmla="val 2222"/>
            </a:avLst>
          </a:prstGeom>
          <a:solidFill>
            <a:schemeClr val="tx1"/>
          </a:solidFill>
          <a:ln w="12700">
            <a:solidFill>
              <a:schemeClr val="tx1"/>
            </a:solidFill>
            <a:prstDash val="solid"/>
          </a:ln>
        </p:spPr>
      </p:sp>
      <p:sp>
        <p:nvSpPr>
          <p:cNvPr id="4" name="Text 2"/>
          <p:cNvSpPr txBox="1"/>
          <p:nvPr/>
        </p:nvSpPr>
        <p:spPr>
          <a:xfrm>
            <a:off x="777240" y="1508760"/>
            <a:ext cx="5166360" cy="4572000"/>
          </a:xfrm>
          <a:prstGeom prst="rect">
            <a:avLst/>
          </a:prstGeom>
          <a:noFill/>
          <a:ln/>
        </p:spPr>
        <p:txBody>
          <a:bodyPr wrap="square" lIns="0" tIns="0" rIns="0" bIns="0" rtlCol="0" anchor="t"/>
          <a:lstStyle/>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task-tracker/</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app/</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main.py        # app + routers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config.py      # settings from .env</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db.py          # engine, session</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errors.py      # domain errors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security.py    # hashing, JWT</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models/        # SQLAlchemy tables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schemas/       # Pydantic shapes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services/      # business rules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 routers/       # HTTP endpoints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migrations/        # Alembic</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tests/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Dockerfile</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docker-compose.yml</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pyproject.toml</a:t>
            </a:r>
            <a:endParaRPr lang="en-US" sz="1400" dirty="0"/>
          </a:p>
        </p:txBody>
      </p:sp>
      <p:sp>
        <p:nvSpPr>
          <p:cNvPr id="5" name="Shape 3"/>
          <p:cNvSpPr/>
          <p:nvPr/>
        </p:nvSpPr>
        <p:spPr>
          <a:xfrm>
            <a:off x="6446520" y="1325880"/>
            <a:ext cx="5212080" cy="841248"/>
          </a:xfrm>
          <a:prstGeom prst="roundRect">
            <a:avLst>
              <a:gd name="adj" fmla="val 13043"/>
            </a:avLst>
          </a:prstGeom>
          <a:solidFill>
            <a:schemeClr val="bg2"/>
          </a:solidFill>
          <a:ln w="12700">
            <a:solidFill>
              <a:schemeClr val="bg2"/>
            </a:solidFill>
            <a:prstDash val="solid"/>
          </a:ln>
        </p:spPr>
      </p:sp>
      <p:sp>
        <p:nvSpPr>
          <p:cNvPr id="6" name="Text 4"/>
          <p:cNvSpPr txBox="1"/>
          <p:nvPr/>
        </p:nvSpPr>
        <p:spPr>
          <a:xfrm>
            <a:off x="6675120" y="1435608"/>
            <a:ext cx="4754880" cy="320040"/>
          </a:xfrm>
          <a:prstGeom prst="rect">
            <a:avLst/>
          </a:prstGeom>
          <a:noFill/>
          <a:ln/>
        </p:spPr>
        <p:txBody>
          <a:bodyPr wrap="square" lIns="0" tIns="0" rIns="0" bIns="0" rtlCol="0" anchor="ctr"/>
          <a:lstStyle/>
          <a:p>
            <a:pPr indent="0" marL="0">
              <a:buNone/>
            </a:pPr>
            <a:r>
              <a:rPr lang="en-US" sz="1700" b="1" dirty="0">
                <a:solidFill>
                  <a:schemeClr val="tx1"/>
                </a:solidFill>
              </a:rPr>
              <a:t>Routers</a:t>
            </a:r>
            <a:endParaRPr lang="en-US" sz="1700" dirty="0"/>
          </a:p>
        </p:txBody>
      </p:sp>
      <p:sp>
        <p:nvSpPr>
          <p:cNvPr id="7" name="Text 5"/>
          <p:cNvSpPr txBox="1"/>
          <p:nvPr/>
        </p:nvSpPr>
        <p:spPr>
          <a:xfrm>
            <a:off x="6675120" y="1755648"/>
            <a:ext cx="4754880" cy="320040"/>
          </a:xfrm>
          <a:prstGeom prst="rect">
            <a:avLst/>
          </a:prstGeom>
          <a:noFill/>
          <a:ln/>
        </p:spPr>
        <p:txBody>
          <a:bodyPr wrap="square" lIns="0" tIns="0" rIns="0" bIns="0" rtlCol="0" anchor="ctr"/>
          <a:lstStyle/>
          <a:p>
            <a:pPr indent="0" marL="0">
              <a:buNone/>
            </a:pPr>
            <a:r>
              <a:rPr lang="en-US" sz="1400" dirty="0">
                <a:solidFill>
                  <a:schemeClr val="tx2"/>
                </a:solidFill>
              </a:rPr>
              <a:t>HTTP in and out only. No business logic.</a:t>
            </a:r>
            <a:endParaRPr lang="en-US" sz="1400" dirty="0"/>
          </a:p>
        </p:txBody>
      </p:sp>
      <p:sp>
        <p:nvSpPr>
          <p:cNvPr id="8" name="Shape 6"/>
          <p:cNvSpPr/>
          <p:nvPr/>
        </p:nvSpPr>
        <p:spPr>
          <a:xfrm>
            <a:off x="6446520" y="2350008"/>
            <a:ext cx="5212080" cy="841248"/>
          </a:xfrm>
          <a:prstGeom prst="roundRect">
            <a:avLst>
              <a:gd name="adj" fmla="val 13043"/>
            </a:avLst>
          </a:prstGeom>
          <a:solidFill>
            <a:schemeClr val="bg2"/>
          </a:solidFill>
          <a:ln w="12700">
            <a:solidFill>
              <a:schemeClr val="bg2"/>
            </a:solidFill>
            <a:prstDash val="solid"/>
          </a:ln>
        </p:spPr>
      </p:sp>
      <p:sp>
        <p:nvSpPr>
          <p:cNvPr id="9" name="Text 7"/>
          <p:cNvSpPr txBox="1"/>
          <p:nvPr/>
        </p:nvSpPr>
        <p:spPr>
          <a:xfrm>
            <a:off x="6675120" y="2459736"/>
            <a:ext cx="4754880" cy="320040"/>
          </a:xfrm>
          <a:prstGeom prst="rect">
            <a:avLst/>
          </a:prstGeom>
          <a:noFill/>
          <a:ln/>
        </p:spPr>
        <p:txBody>
          <a:bodyPr wrap="square" lIns="0" tIns="0" rIns="0" bIns="0" rtlCol="0" anchor="ctr"/>
          <a:lstStyle/>
          <a:p>
            <a:pPr indent="0" marL="0">
              <a:buNone/>
            </a:pPr>
            <a:r>
              <a:rPr lang="en-US" sz="1700" b="1" dirty="0">
                <a:solidFill>
                  <a:schemeClr val="tx1"/>
                </a:solidFill>
              </a:rPr>
              <a:t>Schemas</a:t>
            </a:r>
            <a:endParaRPr lang="en-US" sz="1700" dirty="0"/>
          </a:p>
        </p:txBody>
      </p:sp>
      <p:sp>
        <p:nvSpPr>
          <p:cNvPr id="10" name="Text 8"/>
          <p:cNvSpPr txBox="1"/>
          <p:nvPr/>
        </p:nvSpPr>
        <p:spPr>
          <a:xfrm>
            <a:off x="6675120" y="2779776"/>
            <a:ext cx="4754880" cy="320040"/>
          </a:xfrm>
          <a:prstGeom prst="rect">
            <a:avLst/>
          </a:prstGeom>
          <a:noFill/>
          <a:ln/>
        </p:spPr>
        <p:txBody>
          <a:bodyPr wrap="square" lIns="0" tIns="0" rIns="0" bIns="0" rtlCol="0" anchor="ctr"/>
          <a:lstStyle/>
          <a:p>
            <a:pPr indent="0" marL="0">
              <a:buNone/>
            </a:pPr>
            <a:r>
              <a:rPr lang="en-US" sz="1400" dirty="0">
                <a:solidFill>
                  <a:schemeClr val="tx2"/>
                </a:solidFill>
              </a:rPr>
              <a:t>What the API accepts and returns.</a:t>
            </a:r>
            <a:endParaRPr lang="en-US" sz="1400" dirty="0"/>
          </a:p>
        </p:txBody>
      </p:sp>
      <p:sp>
        <p:nvSpPr>
          <p:cNvPr id="11" name="Shape 9"/>
          <p:cNvSpPr/>
          <p:nvPr/>
        </p:nvSpPr>
        <p:spPr>
          <a:xfrm>
            <a:off x="6446520" y="3374136"/>
            <a:ext cx="5212080" cy="841248"/>
          </a:xfrm>
          <a:prstGeom prst="roundRect">
            <a:avLst>
              <a:gd name="adj" fmla="val 13043"/>
            </a:avLst>
          </a:prstGeom>
          <a:solidFill>
            <a:schemeClr val="bg2"/>
          </a:solidFill>
          <a:ln w="12700">
            <a:solidFill>
              <a:schemeClr val="bg2"/>
            </a:solidFill>
            <a:prstDash val="solid"/>
          </a:ln>
        </p:spPr>
      </p:sp>
      <p:sp>
        <p:nvSpPr>
          <p:cNvPr id="12" name="Text 10"/>
          <p:cNvSpPr txBox="1"/>
          <p:nvPr/>
        </p:nvSpPr>
        <p:spPr>
          <a:xfrm>
            <a:off x="6675120" y="3483864"/>
            <a:ext cx="4754880" cy="320040"/>
          </a:xfrm>
          <a:prstGeom prst="rect">
            <a:avLst/>
          </a:prstGeom>
          <a:noFill/>
          <a:ln/>
        </p:spPr>
        <p:txBody>
          <a:bodyPr wrap="square" lIns="0" tIns="0" rIns="0" bIns="0" rtlCol="0" anchor="ctr"/>
          <a:lstStyle/>
          <a:p>
            <a:pPr indent="0" marL="0">
              <a:buNone/>
            </a:pPr>
            <a:r>
              <a:rPr lang="en-US" sz="1700" b="1" dirty="0">
                <a:solidFill>
                  <a:schemeClr val="tx1"/>
                </a:solidFill>
              </a:rPr>
              <a:t>Services</a:t>
            </a:r>
            <a:endParaRPr lang="en-US" sz="1700" dirty="0"/>
          </a:p>
        </p:txBody>
      </p:sp>
      <p:sp>
        <p:nvSpPr>
          <p:cNvPr id="13" name="Text 11"/>
          <p:cNvSpPr txBox="1"/>
          <p:nvPr/>
        </p:nvSpPr>
        <p:spPr>
          <a:xfrm>
            <a:off x="6675120" y="3803904"/>
            <a:ext cx="4754880" cy="320040"/>
          </a:xfrm>
          <a:prstGeom prst="rect">
            <a:avLst/>
          </a:prstGeom>
          <a:noFill/>
          <a:ln/>
        </p:spPr>
        <p:txBody>
          <a:bodyPr wrap="square" lIns="0" tIns="0" rIns="0" bIns="0" rtlCol="0" anchor="ctr"/>
          <a:lstStyle/>
          <a:p>
            <a:pPr indent="0" marL="0">
              <a:buNone/>
            </a:pPr>
            <a:r>
              <a:rPr lang="en-US" sz="1400" dirty="0">
                <a:solidFill>
                  <a:schemeClr val="tx2"/>
                </a:solidFill>
              </a:rPr>
              <a:t>The rules: ownership, status changes, errors.</a:t>
            </a:r>
            <a:endParaRPr lang="en-US" sz="1400" dirty="0"/>
          </a:p>
        </p:txBody>
      </p:sp>
      <p:sp>
        <p:nvSpPr>
          <p:cNvPr id="14" name="Shape 12"/>
          <p:cNvSpPr/>
          <p:nvPr/>
        </p:nvSpPr>
        <p:spPr>
          <a:xfrm>
            <a:off x="6446520" y="4398264"/>
            <a:ext cx="5212080" cy="841248"/>
          </a:xfrm>
          <a:prstGeom prst="roundRect">
            <a:avLst>
              <a:gd name="adj" fmla="val 13043"/>
            </a:avLst>
          </a:prstGeom>
          <a:solidFill>
            <a:schemeClr val="bg2"/>
          </a:solidFill>
          <a:ln w="12700">
            <a:solidFill>
              <a:schemeClr val="bg2"/>
            </a:solidFill>
            <a:prstDash val="solid"/>
          </a:ln>
        </p:spPr>
      </p:sp>
      <p:sp>
        <p:nvSpPr>
          <p:cNvPr id="15" name="Text 13"/>
          <p:cNvSpPr txBox="1"/>
          <p:nvPr/>
        </p:nvSpPr>
        <p:spPr>
          <a:xfrm>
            <a:off x="6675120" y="4507992"/>
            <a:ext cx="4754880" cy="320040"/>
          </a:xfrm>
          <a:prstGeom prst="rect">
            <a:avLst/>
          </a:prstGeom>
          <a:noFill/>
          <a:ln/>
        </p:spPr>
        <p:txBody>
          <a:bodyPr wrap="square" lIns="0" tIns="0" rIns="0" bIns="0" rtlCol="0" anchor="ctr"/>
          <a:lstStyle/>
          <a:p>
            <a:pPr indent="0" marL="0">
              <a:buNone/>
            </a:pPr>
            <a:r>
              <a:rPr lang="en-US" sz="1700" b="1" dirty="0">
                <a:solidFill>
                  <a:schemeClr val="tx1"/>
                </a:solidFill>
              </a:rPr>
              <a:t>Models</a:t>
            </a:r>
            <a:endParaRPr lang="en-US" sz="1700" dirty="0"/>
          </a:p>
        </p:txBody>
      </p:sp>
      <p:sp>
        <p:nvSpPr>
          <p:cNvPr id="16" name="Text 14"/>
          <p:cNvSpPr txBox="1"/>
          <p:nvPr/>
        </p:nvSpPr>
        <p:spPr>
          <a:xfrm>
            <a:off x="6675120" y="4828032"/>
            <a:ext cx="4754880" cy="320040"/>
          </a:xfrm>
          <a:prstGeom prst="rect">
            <a:avLst/>
          </a:prstGeom>
          <a:noFill/>
          <a:ln/>
        </p:spPr>
        <p:txBody>
          <a:bodyPr wrap="square" lIns="0" tIns="0" rIns="0" bIns="0" rtlCol="0" anchor="ctr"/>
          <a:lstStyle/>
          <a:p>
            <a:pPr indent="0" marL="0">
              <a:buNone/>
            </a:pPr>
            <a:r>
              <a:rPr lang="en-US" sz="1400" dirty="0">
                <a:solidFill>
                  <a:schemeClr val="tx2"/>
                </a:solidFill>
              </a:rPr>
              <a:t>How data is stored in PostgreSQL.</a:t>
            </a:r>
            <a:endParaRPr lang="en-US" sz="1400" dirty="0"/>
          </a:p>
        </p:txBody>
      </p:sp>
      <p:sp>
        <p:nvSpPr>
          <p:cNvPr id="17" name="Text 15"/>
          <p:cNvSpPr txBox="1"/>
          <p:nvPr/>
        </p:nvSpPr>
        <p:spPr>
          <a:xfrm>
            <a:off x="6446520" y="5486400"/>
            <a:ext cx="5212080" cy="731520"/>
          </a:xfrm>
          <a:prstGeom prst="rect">
            <a:avLst/>
          </a:prstGeom>
          <a:noFill/>
          <a:ln/>
        </p:spPr>
        <p:txBody>
          <a:bodyPr wrap="square" lIns="0" tIns="0" rIns="0" bIns="0" rtlCol="0" anchor="t"/>
          <a:lstStyle/>
          <a:p>
            <a:pPr indent="0" marL="0">
              <a:buNone/>
            </a:pPr>
            <a:r>
              <a:rPr lang="en-US" sz="1600" b="1" i="1" dirty="0">
                <a:solidFill>
                  <a:schemeClr val="accent1"/>
                </a:solidFill>
              </a:rPr>
              <a:t>Routers call services. Services use models. No layer is skipped.</a:t>
            </a:r>
            <a:endParaRPr lang="en-US" sz="16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15-day roadmap</a:t>
            </a:r>
            <a:endParaRPr lang="en-US" sz="3200" dirty="0"/>
          </a:p>
        </p:txBody>
      </p:sp>
      <p:sp>
        <p:nvSpPr>
          <p:cNvPr id="3" name="Text 1"/>
          <p:cNvSpPr txBox="1"/>
          <p:nvPr/>
        </p:nvSpPr>
        <p:spPr>
          <a:xfrm>
            <a:off x="548640" y="1645920"/>
            <a:ext cx="118872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WEEK 1</a:t>
            </a:r>
            <a:endParaRPr lang="en-US" sz="1200" dirty="0"/>
          </a:p>
        </p:txBody>
      </p:sp>
      <p:sp>
        <p:nvSpPr>
          <p:cNvPr id="4" name="Text 2"/>
          <p:cNvSpPr txBox="1"/>
          <p:nvPr/>
        </p:nvSpPr>
        <p:spPr>
          <a:xfrm>
            <a:off x="548640" y="1938528"/>
            <a:ext cx="1188720" cy="640080"/>
          </a:xfrm>
          <a:prstGeom prst="rect">
            <a:avLst/>
          </a:prstGeom>
          <a:noFill/>
          <a:ln/>
        </p:spPr>
        <p:txBody>
          <a:bodyPr wrap="square" lIns="0" tIns="0" rIns="0" bIns="0" rtlCol="0" anchor="t"/>
          <a:lstStyle/>
          <a:p>
            <a:pPr indent="0" marL="0">
              <a:buNone/>
            </a:pPr>
            <a:r>
              <a:rPr lang="en-US" sz="1400" b="1" dirty="0">
                <a:solidFill>
                  <a:schemeClr val="tx1"/>
                </a:solidFill>
              </a:rPr>
              <a:t>Foundations</a:t>
            </a:r>
            <a:endParaRPr lang="en-US" sz="1400" dirty="0"/>
          </a:p>
        </p:txBody>
      </p:sp>
      <p:sp>
        <p:nvSpPr>
          <p:cNvPr id="5" name="Shape 3"/>
          <p:cNvSpPr/>
          <p:nvPr/>
        </p:nvSpPr>
        <p:spPr>
          <a:xfrm>
            <a:off x="1828800" y="1371600"/>
            <a:ext cx="1819656" cy="1371600"/>
          </a:xfrm>
          <a:prstGeom prst="roundRect">
            <a:avLst>
              <a:gd name="adj" fmla="val 8000"/>
            </a:avLst>
          </a:prstGeom>
          <a:solidFill>
            <a:schemeClr val="bg2"/>
          </a:solidFill>
          <a:ln w="12700">
            <a:solidFill>
              <a:schemeClr val="bg2"/>
            </a:solidFill>
            <a:prstDash val="solid"/>
          </a:ln>
        </p:spPr>
      </p:sp>
      <p:sp>
        <p:nvSpPr>
          <p:cNvPr id="6" name="Shape 4"/>
          <p:cNvSpPr/>
          <p:nvPr/>
        </p:nvSpPr>
        <p:spPr>
          <a:xfrm>
            <a:off x="2011680" y="155448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201168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2011680" y="2148840"/>
            <a:ext cx="1453896" cy="457200"/>
          </a:xfrm>
          <a:prstGeom prst="rect">
            <a:avLst/>
          </a:prstGeom>
          <a:noFill/>
          <a:ln/>
        </p:spPr>
        <p:txBody>
          <a:bodyPr wrap="square" lIns="0" tIns="0" rIns="0" bIns="0" rtlCol="0" anchor="t"/>
          <a:lstStyle/>
          <a:p>
            <a:pPr indent="0" marL="0">
              <a:buNone/>
            </a:pPr>
            <a:r>
              <a:rPr lang="en-US" sz="1500" b="1" dirty="0">
                <a:solidFill>
                  <a:schemeClr val="tx1"/>
                </a:solidFill>
              </a:rPr>
              <a:t>Python essentials</a:t>
            </a:r>
            <a:endParaRPr lang="en-US" sz="1500" dirty="0"/>
          </a:p>
        </p:txBody>
      </p:sp>
      <p:sp>
        <p:nvSpPr>
          <p:cNvPr id="9" name="Shape 7"/>
          <p:cNvSpPr/>
          <p:nvPr/>
        </p:nvSpPr>
        <p:spPr>
          <a:xfrm>
            <a:off x="3831336" y="1371600"/>
            <a:ext cx="1819656" cy="1371600"/>
          </a:xfrm>
          <a:prstGeom prst="roundRect">
            <a:avLst>
              <a:gd name="adj" fmla="val 8000"/>
            </a:avLst>
          </a:prstGeom>
          <a:solidFill>
            <a:schemeClr val="bg2"/>
          </a:solidFill>
          <a:ln w="12700">
            <a:solidFill>
              <a:schemeClr val="bg2"/>
            </a:solidFill>
            <a:prstDash val="solid"/>
          </a:ln>
        </p:spPr>
      </p:sp>
      <p:sp>
        <p:nvSpPr>
          <p:cNvPr id="10" name="Shape 8"/>
          <p:cNvSpPr/>
          <p:nvPr/>
        </p:nvSpPr>
        <p:spPr>
          <a:xfrm>
            <a:off x="4014216" y="155448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4014216"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4014216" y="2148840"/>
            <a:ext cx="1453896" cy="457200"/>
          </a:xfrm>
          <a:prstGeom prst="rect">
            <a:avLst/>
          </a:prstGeom>
          <a:noFill/>
          <a:ln/>
        </p:spPr>
        <p:txBody>
          <a:bodyPr wrap="square" lIns="0" tIns="0" rIns="0" bIns="0" rtlCol="0" anchor="t"/>
          <a:lstStyle/>
          <a:p>
            <a:pPr indent="0" marL="0">
              <a:buNone/>
            </a:pPr>
            <a:r>
              <a:rPr lang="en-US" sz="1500" b="1" dirty="0">
                <a:solidFill>
                  <a:schemeClr val="tx1"/>
                </a:solidFill>
              </a:rPr>
              <a:t>FastAPI basics</a:t>
            </a:r>
            <a:endParaRPr lang="en-US" sz="1500" dirty="0"/>
          </a:p>
        </p:txBody>
      </p:sp>
      <p:sp>
        <p:nvSpPr>
          <p:cNvPr id="13" name="Shape 11"/>
          <p:cNvSpPr/>
          <p:nvPr/>
        </p:nvSpPr>
        <p:spPr>
          <a:xfrm>
            <a:off x="5833872" y="1371600"/>
            <a:ext cx="1819656" cy="1371600"/>
          </a:xfrm>
          <a:prstGeom prst="roundRect">
            <a:avLst>
              <a:gd name="adj" fmla="val 8000"/>
            </a:avLst>
          </a:prstGeom>
          <a:solidFill>
            <a:schemeClr val="bg2"/>
          </a:solidFill>
          <a:ln w="12700">
            <a:solidFill>
              <a:schemeClr val="bg2"/>
            </a:solidFill>
            <a:prstDash val="solid"/>
          </a:ln>
        </p:spPr>
      </p:sp>
      <p:sp>
        <p:nvSpPr>
          <p:cNvPr id="14" name="Shape 12"/>
          <p:cNvSpPr/>
          <p:nvPr/>
        </p:nvSpPr>
        <p:spPr>
          <a:xfrm>
            <a:off x="6016752" y="155448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6016752"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6016752" y="2148840"/>
            <a:ext cx="1453896" cy="457200"/>
          </a:xfrm>
          <a:prstGeom prst="rect">
            <a:avLst/>
          </a:prstGeom>
          <a:noFill/>
          <a:ln/>
        </p:spPr>
        <p:txBody>
          <a:bodyPr wrap="square" lIns="0" tIns="0" rIns="0" bIns="0" rtlCol="0" anchor="t"/>
          <a:lstStyle/>
          <a:p>
            <a:pPr indent="0" marL="0">
              <a:buNone/>
            </a:pPr>
            <a:r>
              <a:rPr lang="en-US" sz="1500" b="1" dirty="0">
                <a:solidFill>
                  <a:schemeClr val="tx1"/>
                </a:solidFill>
              </a:rPr>
              <a:t>Pydantic schemas</a:t>
            </a:r>
            <a:endParaRPr lang="en-US" sz="1500" dirty="0"/>
          </a:p>
        </p:txBody>
      </p:sp>
      <p:sp>
        <p:nvSpPr>
          <p:cNvPr id="17" name="Shape 15"/>
          <p:cNvSpPr/>
          <p:nvPr/>
        </p:nvSpPr>
        <p:spPr>
          <a:xfrm>
            <a:off x="7836408" y="1371600"/>
            <a:ext cx="1819656" cy="1371600"/>
          </a:xfrm>
          <a:prstGeom prst="roundRect">
            <a:avLst>
              <a:gd name="adj" fmla="val 8000"/>
            </a:avLst>
          </a:prstGeom>
          <a:solidFill>
            <a:schemeClr val="bg2"/>
          </a:solidFill>
          <a:ln w="12700">
            <a:solidFill>
              <a:schemeClr val="bg2"/>
            </a:solidFill>
            <a:prstDash val="solid"/>
          </a:ln>
        </p:spPr>
      </p:sp>
      <p:sp>
        <p:nvSpPr>
          <p:cNvPr id="18" name="Shape 16"/>
          <p:cNvSpPr/>
          <p:nvPr/>
        </p:nvSpPr>
        <p:spPr>
          <a:xfrm>
            <a:off x="8019288" y="1554480"/>
            <a:ext cx="457200" cy="457200"/>
          </a:xfrm>
          <a:prstGeom prst="ellipse">
            <a:avLst/>
          </a:prstGeom>
          <a:solidFill>
            <a:schemeClr val="accent1"/>
          </a:solidFill>
          <a:ln w="12700">
            <a:solidFill>
              <a:schemeClr val="accent1"/>
            </a:solidFill>
            <a:prstDash val="solid"/>
          </a:ln>
        </p:spPr>
      </p:sp>
      <p:sp>
        <p:nvSpPr>
          <p:cNvPr id="19" name="Text 17"/>
          <p:cNvSpPr txBox="1"/>
          <p:nvPr/>
        </p:nvSpPr>
        <p:spPr>
          <a:xfrm>
            <a:off x="8019288"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8"/>
          <p:cNvSpPr txBox="1"/>
          <p:nvPr/>
        </p:nvSpPr>
        <p:spPr>
          <a:xfrm>
            <a:off x="8019288" y="2148840"/>
            <a:ext cx="1453896" cy="457200"/>
          </a:xfrm>
          <a:prstGeom prst="rect">
            <a:avLst/>
          </a:prstGeom>
          <a:noFill/>
          <a:ln/>
        </p:spPr>
        <p:txBody>
          <a:bodyPr wrap="square" lIns="0" tIns="0" rIns="0" bIns="0" rtlCol="0" anchor="t"/>
          <a:lstStyle/>
          <a:p>
            <a:pPr indent="0" marL="0">
              <a:buNone/>
            </a:pPr>
            <a:r>
              <a:rPr lang="en-US" sz="1500" b="1" dirty="0">
                <a:solidFill>
                  <a:schemeClr val="tx1"/>
                </a:solidFill>
              </a:rPr>
              <a:t>Routers and DI</a:t>
            </a:r>
            <a:endParaRPr lang="en-US" sz="1500" dirty="0"/>
          </a:p>
        </p:txBody>
      </p:sp>
      <p:sp>
        <p:nvSpPr>
          <p:cNvPr id="21" name="Shape 19"/>
          <p:cNvSpPr/>
          <p:nvPr/>
        </p:nvSpPr>
        <p:spPr>
          <a:xfrm>
            <a:off x="9838944" y="1371600"/>
            <a:ext cx="1819656" cy="1371600"/>
          </a:xfrm>
          <a:prstGeom prst="roundRect">
            <a:avLst>
              <a:gd name="adj" fmla="val 8000"/>
            </a:avLst>
          </a:prstGeom>
          <a:solidFill>
            <a:schemeClr val="bg2"/>
          </a:solidFill>
          <a:ln w="12700">
            <a:solidFill>
              <a:schemeClr val="bg2"/>
            </a:solidFill>
            <a:prstDash val="solid"/>
          </a:ln>
        </p:spPr>
      </p:sp>
      <p:sp>
        <p:nvSpPr>
          <p:cNvPr id="22" name="Shape 20"/>
          <p:cNvSpPr/>
          <p:nvPr/>
        </p:nvSpPr>
        <p:spPr>
          <a:xfrm>
            <a:off x="10021824" y="1554480"/>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10021824"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Text 22"/>
          <p:cNvSpPr txBox="1"/>
          <p:nvPr/>
        </p:nvSpPr>
        <p:spPr>
          <a:xfrm>
            <a:off x="10021824" y="2148840"/>
            <a:ext cx="1453896" cy="457200"/>
          </a:xfrm>
          <a:prstGeom prst="rect">
            <a:avLst/>
          </a:prstGeom>
          <a:noFill/>
          <a:ln/>
        </p:spPr>
        <p:txBody>
          <a:bodyPr wrap="square" lIns="0" tIns="0" rIns="0" bIns="0" rtlCol="0" anchor="t"/>
          <a:lstStyle/>
          <a:p>
            <a:pPr indent="0" marL="0">
              <a:buNone/>
            </a:pPr>
            <a:r>
              <a:rPr lang="en-US" sz="1500" b="1" dirty="0">
                <a:solidFill>
                  <a:schemeClr val="tx1"/>
                </a:solidFill>
              </a:rPr>
              <a:t>Database models</a:t>
            </a:r>
            <a:endParaRPr lang="en-US" sz="1500" dirty="0"/>
          </a:p>
        </p:txBody>
      </p:sp>
      <p:sp>
        <p:nvSpPr>
          <p:cNvPr id="25" name="Text 23"/>
          <p:cNvSpPr txBox="1"/>
          <p:nvPr/>
        </p:nvSpPr>
        <p:spPr>
          <a:xfrm>
            <a:off x="548640" y="3291840"/>
            <a:ext cx="118872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WEEK 2</a:t>
            </a:r>
            <a:endParaRPr lang="en-US" sz="1200" dirty="0"/>
          </a:p>
        </p:txBody>
      </p:sp>
      <p:sp>
        <p:nvSpPr>
          <p:cNvPr id="26" name="Text 24"/>
          <p:cNvSpPr txBox="1"/>
          <p:nvPr/>
        </p:nvSpPr>
        <p:spPr>
          <a:xfrm>
            <a:off x="548640" y="3584448"/>
            <a:ext cx="1188720" cy="640080"/>
          </a:xfrm>
          <a:prstGeom prst="rect">
            <a:avLst/>
          </a:prstGeom>
          <a:noFill/>
          <a:ln/>
        </p:spPr>
        <p:txBody>
          <a:bodyPr wrap="square" lIns="0" tIns="0" rIns="0" bIns="0" rtlCol="0" anchor="t"/>
          <a:lstStyle/>
          <a:p>
            <a:pPr indent="0" marL="0">
              <a:buNone/>
            </a:pPr>
            <a:r>
              <a:rPr lang="en-US" sz="1400" b="1" dirty="0">
                <a:solidFill>
                  <a:schemeClr val="tx1"/>
                </a:solidFill>
              </a:rPr>
              <a:t>Data and security</a:t>
            </a:r>
            <a:endParaRPr lang="en-US" sz="1400" dirty="0"/>
          </a:p>
        </p:txBody>
      </p:sp>
      <p:sp>
        <p:nvSpPr>
          <p:cNvPr id="27" name="Shape 25"/>
          <p:cNvSpPr/>
          <p:nvPr/>
        </p:nvSpPr>
        <p:spPr>
          <a:xfrm>
            <a:off x="1828800" y="3017520"/>
            <a:ext cx="1819656" cy="1371600"/>
          </a:xfrm>
          <a:prstGeom prst="roundRect">
            <a:avLst>
              <a:gd name="adj" fmla="val 8000"/>
            </a:avLst>
          </a:prstGeom>
          <a:solidFill>
            <a:schemeClr val="bg2"/>
          </a:solidFill>
          <a:ln w="12700">
            <a:solidFill>
              <a:schemeClr val="bg2"/>
            </a:solidFill>
            <a:prstDash val="solid"/>
          </a:ln>
        </p:spPr>
      </p:sp>
      <p:sp>
        <p:nvSpPr>
          <p:cNvPr id="28" name="Shape 26"/>
          <p:cNvSpPr/>
          <p:nvPr/>
        </p:nvSpPr>
        <p:spPr>
          <a:xfrm>
            <a:off x="2011680" y="3200400"/>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2011680"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0" name="Text 28"/>
          <p:cNvSpPr txBox="1"/>
          <p:nvPr/>
        </p:nvSpPr>
        <p:spPr>
          <a:xfrm>
            <a:off x="2560320" y="3291840"/>
            <a:ext cx="905256" cy="274320"/>
          </a:xfrm>
          <a:prstGeom prst="rect">
            <a:avLst/>
          </a:prstGeom>
          <a:noFill/>
          <a:ln/>
        </p:spPr>
        <p:txBody>
          <a:bodyPr wrap="square" lIns="0" tIns="0" rIns="0" bIns="0" rtlCol="0" anchor="ctr"/>
          <a:lstStyle/>
          <a:p>
            <a:pPr algn="r" indent="0" marL="0">
              <a:buNone/>
            </a:pPr>
            <a:r>
              <a:rPr lang="en-US" sz="1000" b="1" spc="100" kern="0" dirty="0">
                <a:solidFill>
                  <a:schemeClr val="accent1"/>
                </a:solidFill>
              </a:rPr>
              <a:t>LIGHTER</a:t>
            </a:r>
            <a:endParaRPr lang="en-US" sz="1000" dirty="0"/>
          </a:p>
        </p:txBody>
      </p:sp>
      <p:sp>
        <p:nvSpPr>
          <p:cNvPr id="31" name="Text 29"/>
          <p:cNvSpPr txBox="1"/>
          <p:nvPr/>
        </p:nvSpPr>
        <p:spPr>
          <a:xfrm>
            <a:off x="2011680" y="3794760"/>
            <a:ext cx="1453896" cy="457200"/>
          </a:xfrm>
          <a:prstGeom prst="rect">
            <a:avLst/>
          </a:prstGeom>
          <a:noFill/>
          <a:ln/>
        </p:spPr>
        <p:txBody>
          <a:bodyPr wrap="square" lIns="0" tIns="0" rIns="0" bIns="0" rtlCol="0" anchor="t"/>
          <a:lstStyle/>
          <a:p>
            <a:pPr indent="0" marL="0">
              <a:buNone/>
            </a:pPr>
            <a:r>
              <a:rPr lang="en-US" sz="1500" b="1" dirty="0">
                <a:solidFill>
                  <a:schemeClr val="tx1"/>
                </a:solidFill>
              </a:rPr>
              <a:t>Alembic migrations</a:t>
            </a:r>
            <a:endParaRPr lang="en-US" sz="1500" dirty="0"/>
          </a:p>
        </p:txBody>
      </p:sp>
      <p:sp>
        <p:nvSpPr>
          <p:cNvPr id="32" name="Shape 30"/>
          <p:cNvSpPr/>
          <p:nvPr/>
        </p:nvSpPr>
        <p:spPr>
          <a:xfrm>
            <a:off x="3831336" y="3017520"/>
            <a:ext cx="1819656" cy="1371600"/>
          </a:xfrm>
          <a:prstGeom prst="roundRect">
            <a:avLst>
              <a:gd name="adj" fmla="val 8000"/>
            </a:avLst>
          </a:prstGeom>
          <a:solidFill>
            <a:schemeClr val="accent2"/>
          </a:solidFill>
          <a:ln w="12700">
            <a:solidFill>
              <a:schemeClr val="accent2"/>
            </a:solidFill>
            <a:prstDash val="solid"/>
          </a:ln>
        </p:spPr>
      </p:sp>
      <p:sp>
        <p:nvSpPr>
          <p:cNvPr id="33" name="Shape 31"/>
          <p:cNvSpPr/>
          <p:nvPr/>
        </p:nvSpPr>
        <p:spPr>
          <a:xfrm>
            <a:off x="4014216" y="3200400"/>
            <a:ext cx="457200" cy="457200"/>
          </a:xfrm>
          <a:prstGeom prst="ellipse">
            <a:avLst/>
          </a:prstGeom>
          <a:solidFill>
            <a:schemeClr val="accent1"/>
          </a:solidFill>
          <a:ln w="12700">
            <a:solidFill>
              <a:schemeClr val="accent1"/>
            </a:solidFill>
            <a:prstDash val="solid"/>
          </a:ln>
        </p:spPr>
      </p:sp>
      <p:sp>
        <p:nvSpPr>
          <p:cNvPr id="34" name="Text 32"/>
          <p:cNvSpPr txBox="1"/>
          <p:nvPr/>
        </p:nvSpPr>
        <p:spPr>
          <a:xfrm>
            <a:off x="4014216"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5" name="Text 33"/>
          <p:cNvSpPr txBox="1"/>
          <p:nvPr/>
        </p:nvSpPr>
        <p:spPr>
          <a:xfrm>
            <a:off x="4562856" y="3291840"/>
            <a:ext cx="905256" cy="274320"/>
          </a:xfrm>
          <a:prstGeom prst="rect">
            <a:avLst/>
          </a:prstGeom>
          <a:noFill/>
          <a:ln/>
        </p:spPr>
        <p:txBody>
          <a:bodyPr wrap="square" lIns="0" tIns="0" rIns="0" bIns="0" rtlCol="0" anchor="ctr"/>
          <a:lstStyle/>
          <a:p>
            <a:pPr algn="r" indent="0" marL="0">
              <a:buNone/>
            </a:pPr>
            <a:r>
              <a:rPr lang="en-US" sz="1000" b="1" spc="100" kern="0" dirty="0">
                <a:solidFill>
                  <a:schemeClr val="tx1"/>
                </a:solidFill>
              </a:rPr>
              <a:t>DEMO</a:t>
            </a:r>
            <a:endParaRPr lang="en-US" sz="1000" dirty="0"/>
          </a:p>
        </p:txBody>
      </p:sp>
      <p:sp>
        <p:nvSpPr>
          <p:cNvPr id="36" name="Text 34"/>
          <p:cNvSpPr txBox="1"/>
          <p:nvPr/>
        </p:nvSpPr>
        <p:spPr>
          <a:xfrm>
            <a:off x="4014216" y="3794760"/>
            <a:ext cx="1453896" cy="457200"/>
          </a:xfrm>
          <a:prstGeom prst="rect">
            <a:avLst/>
          </a:prstGeom>
          <a:noFill/>
          <a:ln/>
        </p:spPr>
        <p:txBody>
          <a:bodyPr wrap="square" lIns="0" tIns="0" rIns="0" bIns="0" rtlCol="0" anchor="t"/>
          <a:lstStyle/>
          <a:p>
            <a:pPr indent="0" marL="0">
              <a:buNone/>
            </a:pPr>
            <a:r>
              <a:rPr lang="en-US" sz="1500" b="1" dirty="0">
                <a:solidFill>
                  <a:schemeClr val="tx1"/>
                </a:solidFill>
              </a:rPr>
              <a:t>CRUD + demo</a:t>
            </a:r>
            <a:endParaRPr lang="en-US" sz="1500" dirty="0"/>
          </a:p>
        </p:txBody>
      </p:sp>
      <p:sp>
        <p:nvSpPr>
          <p:cNvPr id="37" name="Shape 35"/>
          <p:cNvSpPr/>
          <p:nvPr/>
        </p:nvSpPr>
        <p:spPr>
          <a:xfrm>
            <a:off x="5833872" y="3017520"/>
            <a:ext cx="1819656" cy="1371600"/>
          </a:xfrm>
          <a:prstGeom prst="roundRect">
            <a:avLst>
              <a:gd name="adj" fmla="val 8000"/>
            </a:avLst>
          </a:prstGeom>
          <a:solidFill>
            <a:schemeClr val="bg2"/>
          </a:solidFill>
          <a:ln w="12700">
            <a:solidFill>
              <a:schemeClr val="bg2"/>
            </a:solidFill>
            <a:prstDash val="solid"/>
          </a:ln>
        </p:spPr>
      </p:sp>
      <p:sp>
        <p:nvSpPr>
          <p:cNvPr id="38" name="Shape 36"/>
          <p:cNvSpPr/>
          <p:nvPr/>
        </p:nvSpPr>
        <p:spPr>
          <a:xfrm>
            <a:off x="6016752" y="3200400"/>
            <a:ext cx="457200" cy="457200"/>
          </a:xfrm>
          <a:prstGeom prst="ellipse">
            <a:avLst/>
          </a:prstGeom>
          <a:solidFill>
            <a:schemeClr val="accent1"/>
          </a:solidFill>
          <a:ln w="12700">
            <a:solidFill>
              <a:schemeClr val="accent1"/>
            </a:solidFill>
            <a:prstDash val="solid"/>
          </a:ln>
        </p:spPr>
      </p:sp>
      <p:sp>
        <p:nvSpPr>
          <p:cNvPr id="39" name="Text 37"/>
          <p:cNvSpPr txBox="1"/>
          <p:nvPr/>
        </p:nvSpPr>
        <p:spPr>
          <a:xfrm>
            <a:off x="6016752"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0" name="Text 38"/>
          <p:cNvSpPr txBox="1"/>
          <p:nvPr/>
        </p:nvSpPr>
        <p:spPr>
          <a:xfrm>
            <a:off x="6016752" y="3794760"/>
            <a:ext cx="1453896" cy="457200"/>
          </a:xfrm>
          <a:prstGeom prst="rect">
            <a:avLst/>
          </a:prstGeom>
          <a:noFill/>
          <a:ln/>
        </p:spPr>
        <p:txBody>
          <a:bodyPr wrap="square" lIns="0" tIns="0" rIns="0" bIns="0" rtlCol="0" anchor="t"/>
          <a:lstStyle/>
          <a:p>
            <a:pPr indent="0" marL="0">
              <a:buNone/>
            </a:pPr>
            <a:r>
              <a:rPr lang="en-US" sz="1500" b="1" dirty="0">
                <a:solidFill>
                  <a:schemeClr val="tx1"/>
                </a:solidFill>
              </a:rPr>
              <a:t>Error handling</a:t>
            </a:r>
            <a:endParaRPr lang="en-US" sz="1500" dirty="0"/>
          </a:p>
        </p:txBody>
      </p:sp>
      <p:sp>
        <p:nvSpPr>
          <p:cNvPr id="41" name="Shape 39"/>
          <p:cNvSpPr/>
          <p:nvPr/>
        </p:nvSpPr>
        <p:spPr>
          <a:xfrm>
            <a:off x="7836408" y="3017520"/>
            <a:ext cx="1819656" cy="1371600"/>
          </a:xfrm>
          <a:prstGeom prst="roundRect">
            <a:avLst>
              <a:gd name="adj" fmla="val 8000"/>
            </a:avLst>
          </a:prstGeom>
          <a:solidFill>
            <a:schemeClr val="bg2"/>
          </a:solidFill>
          <a:ln w="12700">
            <a:solidFill>
              <a:schemeClr val="bg2"/>
            </a:solidFill>
            <a:prstDash val="solid"/>
          </a:ln>
        </p:spPr>
      </p:sp>
      <p:sp>
        <p:nvSpPr>
          <p:cNvPr id="42" name="Shape 40"/>
          <p:cNvSpPr/>
          <p:nvPr/>
        </p:nvSpPr>
        <p:spPr>
          <a:xfrm>
            <a:off x="8019288" y="3200400"/>
            <a:ext cx="457200" cy="457200"/>
          </a:xfrm>
          <a:prstGeom prst="ellipse">
            <a:avLst/>
          </a:prstGeom>
          <a:solidFill>
            <a:schemeClr val="accent1"/>
          </a:solidFill>
          <a:ln w="12700">
            <a:solidFill>
              <a:schemeClr val="accent1"/>
            </a:solidFill>
            <a:prstDash val="solid"/>
          </a:ln>
        </p:spPr>
      </p:sp>
      <p:sp>
        <p:nvSpPr>
          <p:cNvPr id="43" name="Text 41"/>
          <p:cNvSpPr txBox="1"/>
          <p:nvPr/>
        </p:nvSpPr>
        <p:spPr>
          <a:xfrm>
            <a:off x="8019288"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4" name="Text 42"/>
          <p:cNvSpPr txBox="1"/>
          <p:nvPr/>
        </p:nvSpPr>
        <p:spPr>
          <a:xfrm>
            <a:off x="8019288" y="3794760"/>
            <a:ext cx="1453896" cy="457200"/>
          </a:xfrm>
          <a:prstGeom prst="rect">
            <a:avLst/>
          </a:prstGeom>
          <a:noFill/>
          <a:ln/>
        </p:spPr>
        <p:txBody>
          <a:bodyPr wrap="square" lIns="0" tIns="0" rIns="0" bIns="0" rtlCol="0" anchor="t"/>
          <a:lstStyle/>
          <a:p>
            <a:pPr indent="0" marL="0">
              <a:buNone/>
            </a:pPr>
            <a:r>
              <a:rPr lang="en-US" sz="1500" b="1" dirty="0">
                <a:solidFill>
                  <a:schemeClr val="tx1"/>
                </a:solidFill>
              </a:rPr>
              <a:t>Authentication</a:t>
            </a:r>
            <a:endParaRPr lang="en-US" sz="1500" dirty="0"/>
          </a:p>
        </p:txBody>
      </p:sp>
      <p:sp>
        <p:nvSpPr>
          <p:cNvPr id="45" name="Shape 43"/>
          <p:cNvSpPr/>
          <p:nvPr/>
        </p:nvSpPr>
        <p:spPr>
          <a:xfrm>
            <a:off x="9838944" y="3017520"/>
            <a:ext cx="1819656" cy="1371600"/>
          </a:xfrm>
          <a:prstGeom prst="roundRect">
            <a:avLst>
              <a:gd name="adj" fmla="val 8000"/>
            </a:avLst>
          </a:prstGeom>
          <a:solidFill>
            <a:schemeClr val="bg2"/>
          </a:solidFill>
          <a:ln w="12700">
            <a:solidFill>
              <a:schemeClr val="bg2"/>
            </a:solidFill>
            <a:prstDash val="solid"/>
          </a:ln>
        </p:spPr>
      </p:sp>
      <p:sp>
        <p:nvSpPr>
          <p:cNvPr id="46" name="Shape 44"/>
          <p:cNvSpPr/>
          <p:nvPr/>
        </p:nvSpPr>
        <p:spPr>
          <a:xfrm>
            <a:off x="10021824" y="3200400"/>
            <a:ext cx="457200" cy="457200"/>
          </a:xfrm>
          <a:prstGeom prst="ellipse">
            <a:avLst/>
          </a:prstGeom>
          <a:solidFill>
            <a:schemeClr val="accent1"/>
          </a:solidFill>
          <a:ln w="12700">
            <a:solidFill>
              <a:schemeClr val="accent1"/>
            </a:solidFill>
            <a:prstDash val="solid"/>
          </a:ln>
        </p:spPr>
      </p:sp>
      <p:sp>
        <p:nvSpPr>
          <p:cNvPr id="47" name="Text 45"/>
          <p:cNvSpPr txBox="1"/>
          <p:nvPr/>
        </p:nvSpPr>
        <p:spPr>
          <a:xfrm>
            <a:off x="10021824" y="32004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8" name="Text 46"/>
          <p:cNvSpPr txBox="1"/>
          <p:nvPr/>
        </p:nvSpPr>
        <p:spPr>
          <a:xfrm>
            <a:off x="10021824" y="3794760"/>
            <a:ext cx="1453896" cy="457200"/>
          </a:xfrm>
          <a:prstGeom prst="rect">
            <a:avLst/>
          </a:prstGeom>
          <a:noFill/>
          <a:ln/>
        </p:spPr>
        <p:txBody>
          <a:bodyPr wrap="square" lIns="0" tIns="0" rIns="0" bIns="0" rtlCol="0" anchor="t"/>
          <a:lstStyle/>
          <a:p>
            <a:pPr indent="0" marL="0">
              <a:buNone/>
            </a:pPr>
            <a:r>
              <a:rPr lang="en-US" sz="1500" b="1" dirty="0">
                <a:solidFill>
                  <a:schemeClr val="tx1"/>
                </a:solidFill>
              </a:rPr>
              <a:t>Authorization</a:t>
            </a:r>
            <a:endParaRPr lang="en-US" sz="1500" dirty="0"/>
          </a:p>
        </p:txBody>
      </p:sp>
      <p:sp>
        <p:nvSpPr>
          <p:cNvPr id="49" name="Text 47"/>
          <p:cNvSpPr txBox="1"/>
          <p:nvPr/>
        </p:nvSpPr>
        <p:spPr>
          <a:xfrm>
            <a:off x="548640" y="4937760"/>
            <a:ext cx="118872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WEEK 3</a:t>
            </a:r>
            <a:endParaRPr lang="en-US" sz="1200" dirty="0"/>
          </a:p>
        </p:txBody>
      </p:sp>
      <p:sp>
        <p:nvSpPr>
          <p:cNvPr id="50" name="Text 48"/>
          <p:cNvSpPr txBox="1"/>
          <p:nvPr/>
        </p:nvSpPr>
        <p:spPr>
          <a:xfrm>
            <a:off x="548640" y="5230368"/>
            <a:ext cx="1188720" cy="640080"/>
          </a:xfrm>
          <a:prstGeom prst="rect">
            <a:avLst/>
          </a:prstGeom>
          <a:noFill/>
          <a:ln/>
        </p:spPr>
        <p:txBody>
          <a:bodyPr wrap="square" lIns="0" tIns="0" rIns="0" bIns="0" rtlCol="0" anchor="t"/>
          <a:lstStyle/>
          <a:p>
            <a:pPr indent="0" marL="0">
              <a:buNone/>
            </a:pPr>
            <a:r>
              <a:rPr lang="en-US" sz="1400" b="1" dirty="0">
                <a:solidFill>
                  <a:schemeClr val="tx1"/>
                </a:solidFill>
              </a:rPr>
              <a:t>Quality and shipping</a:t>
            </a:r>
            <a:endParaRPr lang="en-US" sz="1400" dirty="0"/>
          </a:p>
        </p:txBody>
      </p:sp>
      <p:sp>
        <p:nvSpPr>
          <p:cNvPr id="51" name="Shape 49"/>
          <p:cNvSpPr/>
          <p:nvPr/>
        </p:nvSpPr>
        <p:spPr>
          <a:xfrm>
            <a:off x="1828800" y="4663440"/>
            <a:ext cx="1819656" cy="1371600"/>
          </a:xfrm>
          <a:prstGeom prst="roundRect">
            <a:avLst>
              <a:gd name="adj" fmla="val 8000"/>
            </a:avLst>
          </a:prstGeom>
          <a:solidFill>
            <a:schemeClr val="bg2"/>
          </a:solidFill>
          <a:ln w="12700">
            <a:solidFill>
              <a:schemeClr val="bg2"/>
            </a:solidFill>
            <a:prstDash val="solid"/>
          </a:ln>
        </p:spPr>
      </p:sp>
      <p:sp>
        <p:nvSpPr>
          <p:cNvPr id="52" name="Shape 50"/>
          <p:cNvSpPr/>
          <p:nvPr/>
        </p:nvSpPr>
        <p:spPr>
          <a:xfrm>
            <a:off x="2011680" y="4846320"/>
            <a:ext cx="457200" cy="457200"/>
          </a:xfrm>
          <a:prstGeom prst="ellipse">
            <a:avLst/>
          </a:prstGeom>
          <a:solidFill>
            <a:schemeClr val="accent1"/>
          </a:solidFill>
          <a:ln w="12700">
            <a:solidFill>
              <a:schemeClr val="accent1"/>
            </a:solidFill>
            <a:prstDash val="solid"/>
          </a:ln>
        </p:spPr>
      </p:sp>
      <p:sp>
        <p:nvSpPr>
          <p:cNvPr id="53" name="Text 51"/>
          <p:cNvSpPr txBox="1"/>
          <p:nvPr/>
        </p:nvSpPr>
        <p:spPr>
          <a:xfrm>
            <a:off x="2011680"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54" name="Text 52"/>
          <p:cNvSpPr txBox="1"/>
          <p:nvPr/>
        </p:nvSpPr>
        <p:spPr>
          <a:xfrm>
            <a:off x="2011680" y="5440680"/>
            <a:ext cx="1453896" cy="457200"/>
          </a:xfrm>
          <a:prstGeom prst="rect">
            <a:avLst/>
          </a:prstGeom>
          <a:noFill/>
          <a:ln/>
        </p:spPr>
        <p:txBody>
          <a:bodyPr wrap="square" lIns="0" tIns="0" rIns="0" bIns="0" rtlCol="0" anchor="t"/>
          <a:lstStyle/>
          <a:p>
            <a:pPr indent="0" marL="0">
              <a:buNone/>
            </a:pPr>
            <a:r>
              <a:rPr lang="en-US" sz="1500" b="1" dirty="0">
                <a:solidFill>
                  <a:schemeClr val="tx1"/>
                </a:solidFill>
              </a:rPr>
              <a:t>Testing</a:t>
            </a:r>
            <a:endParaRPr lang="en-US" sz="1500" dirty="0"/>
          </a:p>
        </p:txBody>
      </p:sp>
      <p:sp>
        <p:nvSpPr>
          <p:cNvPr id="55" name="Shape 53"/>
          <p:cNvSpPr/>
          <p:nvPr/>
        </p:nvSpPr>
        <p:spPr>
          <a:xfrm>
            <a:off x="3831336" y="4663440"/>
            <a:ext cx="1819656" cy="1371600"/>
          </a:xfrm>
          <a:prstGeom prst="roundRect">
            <a:avLst>
              <a:gd name="adj" fmla="val 8000"/>
            </a:avLst>
          </a:prstGeom>
          <a:solidFill>
            <a:schemeClr val="bg2"/>
          </a:solidFill>
          <a:ln w="12700">
            <a:solidFill>
              <a:schemeClr val="bg2"/>
            </a:solidFill>
            <a:prstDash val="solid"/>
          </a:ln>
        </p:spPr>
      </p:sp>
      <p:sp>
        <p:nvSpPr>
          <p:cNvPr id="56" name="Shape 54"/>
          <p:cNvSpPr/>
          <p:nvPr/>
        </p:nvSpPr>
        <p:spPr>
          <a:xfrm>
            <a:off x="4014216" y="4846320"/>
            <a:ext cx="457200" cy="457200"/>
          </a:xfrm>
          <a:prstGeom prst="ellipse">
            <a:avLst/>
          </a:prstGeom>
          <a:solidFill>
            <a:schemeClr val="accent1"/>
          </a:solidFill>
          <a:ln w="12700">
            <a:solidFill>
              <a:schemeClr val="accent1"/>
            </a:solidFill>
            <a:prstDash val="solid"/>
          </a:ln>
        </p:spPr>
      </p:sp>
      <p:sp>
        <p:nvSpPr>
          <p:cNvPr id="57" name="Text 55"/>
          <p:cNvSpPr txBox="1"/>
          <p:nvPr/>
        </p:nvSpPr>
        <p:spPr>
          <a:xfrm>
            <a:off x="4014216"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58" name="Text 56"/>
          <p:cNvSpPr txBox="1"/>
          <p:nvPr/>
        </p:nvSpPr>
        <p:spPr>
          <a:xfrm>
            <a:off x="4014216" y="5440680"/>
            <a:ext cx="1453896" cy="457200"/>
          </a:xfrm>
          <a:prstGeom prst="rect">
            <a:avLst/>
          </a:prstGeom>
          <a:noFill/>
          <a:ln/>
        </p:spPr>
        <p:txBody>
          <a:bodyPr wrap="square" lIns="0" tIns="0" rIns="0" bIns="0" rtlCol="0" anchor="t"/>
          <a:lstStyle/>
          <a:p>
            <a:pPr indent="0" marL="0">
              <a:buNone/>
            </a:pPr>
            <a:r>
              <a:rPr lang="en-US" sz="1500" b="1" dirty="0">
                <a:solidFill>
                  <a:schemeClr val="tx1"/>
                </a:solidFill>
              </a:rPr>
              <a:t>Filters and paging</a:t>
            </a:r>
            <a:endParaRPr lang="en-US" sz="1500" dirty="0"/>
          </a:p>
        </p:txBody>
      </p:sp>
      <p:sp>
        <p:nvSpPr>
          <p:cNvPr id="59" name="Shape 57"/>
          <p:cNvSpPr/>
          <p:nvPr/>
        </p:nvSpPr>
        <p:spPr>
          <a:xfrm>
            <a:off x="5833872" y="4663440"/>
            <a:ext cx="1819656" cy="1371600"/>
          </a:xfrm>
          <a:prstGeom prst="roundRect">
            <a:avLst>
              <a:gd name="adj" fmla="val 8000"/>
            </a:avLst>
          </a:prstGeom>
          <a:solidFill>
            <a:schemeClr val="bg2"/>
          </a:solidFill>
          <a:ln w="12700">
            <a:solidFill>
              <a:schemeClr val="bg2"/>
            </a:solidFill>
            <a:prstDash val="solid"/>
          </a:ln>
        </p:spPr>
      </p:sp>
      <p:sp>
        <p:nvSpPr>
          <p:cNvPr id="60" name="Shape 58"/>
          <p:cNvSpPr/>
          <p:nvPr/>
        </p:nvSpPr>
        <p:spPr>
          <a:xfrm>
            <a:off x="6016752" y="4846320"/>
            <a:ext cx="457200" cy="457200"/>
          </a:xfrm>
          <a:prstGeom prst="ellipse">
            <a:avLst/>
          </a:prstGeom>
          <a:solidFill>
            <a:schemeClr val="accent1"/>
          </a:solidFill>
          <a:ln w="12700">
            <a:solidFill>
              <a:schemeClr val="accent1"/>
            </a:solidFill>
            <a:prstDash val="solid"/>
          </a:ln>
        </p:spPr>
      </p:sp>
      <p:sp>
        <p:nvSpPr>
          <p:cNvPr id="61" name="Text 59"/>
          <p:cNvSpPr txBox="1"/>
          <p:nvPr/>
        </p:nvSpPr>
        <p:spPr>
          <a:xfrm>
            <a:off x="6016752"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13</a:t>
            </a:r>
            <a:endParaRPr lang="en-US" sz="1400" dirty="0"/>
          </a:p>
        </p:txBody>
      </p:sp>
      <p:sp>
        <p:nvSpPr>
          <p:cNvPr id="62" name="Text 60"/>
          <p:cNvSpPr txBox="1"/>
          <p:nvPr/>
        </p:nvSpPr>
        <p:spPr>
          <a:xfrm>
            <a:off x="6016752" y="5440680"/>
            <a:ext cx="1453896" cy="457200"/>
          </a:xfrm>
          <a:prstGeom prst="rect">
            <a:avLst/>
          </a:prstGeom>
          <a:noFill/>
          <a:ln/>
        </p:spPr>
        <p:txBody>
          <a:bodyPr wrap="square" lIns="0" tIns="0" rIns="0" bIns="0" rtlCol="0" anchor="t"/>
          <a:lstStyle/>
          <a:p>
            <a:pPr indent="0" marL="0">
              <a:buNone/>
            </a:pPr>
            <a:r>
              <a:rPr lang="en-US" sz="1500" b="1" dirty="0">
                <a:solidFill>
                  <a:schemeClr val="tx1"/>
                </a:solidFill>
              </a:rPr>
              <a:t>Config and logging</a:t>
            </a:r>
            <a:endParaRPr lang="en-US" sz="1500" dirty="0"/>
          </a:p>
        </p:txBody>
      </p:sp>
      <p:sp>
        <p:nvSpPr>
          <p:cNvPr id="63" name="Shape 61"/>
          <p:cNvSpPr/>
          <p:nvPr/>
        </p:nvSpPr>
        <p:spPr>
          <a:xfrm>
            <a:off x="7836408" y="4663440"/>
            <a:ext cx="1819656" cy="1371600"/>
          </a:xfrm>
          <a:prstGeom prst="roundRect">
            <a:avLst>
              <a:gd name="adj" fmla="val 8000"/>
            </a:avLst>
          </a:prstGeom>
          <a:solidFill>
            <a:schemeClr val="bg2"/>
          </a:solidFill>
          <a:ln w="12700">
            <a:solidFill>
              <a:schemeClr val="bg2"/>
            </a:solidFill>
            <a:prstDash val="solid"/>
          </a:ln>
        </p:spPr>
      </p:sp>
      <p:sp>
        <p:nvSpPr>
          <p:cNvPr id="64" name="Shape 62"/>
          <p:cNvSpPr/>
          <p:nvPr/>
        </p:nvSpPr>
        <p:spPr>
          <a:xfrm>
            <a:off x="8019288" y="4846320"/>
            <a:ext cx="457200" cy="457200"/>
          </a:xfrm>
          <a:prstGeom prst="ellipse">
            <a:avLst/>
          </a:prstGeom>
          <a:solidFill>
            <a:schemeClr val="accent1"/>
          </a:solidFill>
          <a:ln w="12700">
            <a:solidFill>
              <a:schemeClr val="accent1"/>
            </a:solidFill>
            <a:prstDash val="solid"/>
          </a:ln>
        </p:spPr>
      </p:sp>
      <p:sp>
        <p:nvSpPr>
          <p:cNvPr id="65" name="Text 63"/>
          <p:cNvSpPr txBox="1"/>
          <p:nvPr/>
        </p:nvSpPr>
        <p:spPr>
          <a:xfrm>
            <a:off x="8019288"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14</a:t>
            </a:r>
            <a:endParaRPr lang="en-US" sz="1400" dirty="0"/>
          </a:p>
        </p:txBody>
      </p:sp>
      <p:sp>
        <p:nvSpPr>
          <p:cNvPr id="66" name="Text 64"/>
          <p:cNvSpPr txBox="1"/>
          <p:nvPr/>
        </p:nvSpPr>
        <p:spPr>
          <a:xfrm>
            <a:off x="8567928" y="4937760"/>
            <a:ext cx="905256" cy="274320"/>
          </a:xfrm>
          <a:prstGeom prst="rect">
            <a:avLst/>
          </a:prstGeom>
          <a:noFill/>
          <a:ln/>
        </p:spPr>
        <p:txBody>
          <a:bodyPr wrap="square" lIns="0" tIns="0" rIns="0" bIns="0" rtlCol="0" anchor="ctr"/>
          <a:lstStyle/>
          <a:p>
            <a:pPr algn="r" indent="0" marL="0">
              <a:buNone/>
            </a:pPr>
            <a:r>
              <a:rPr lang="en-US" sz="1000" b="1" spc="100" kern="0" dirty="0">
                <a:solidFill>
                  <a:schemeClr val="accent1"/>
                </a:solidFill>
              </a:rPr>
              <a:t>LIGHTER</a:t>
            </a:r>
            <a:endParaRPr lang="en-US" sz="1000" dirty="0"/>
          </a:p>
        </p:txBody>
      </p:sp>
      <p:sp>
        <p:nvSpPr>
          <p:cNvPr id="67" name="Text 65"/>
          <p:cNvSpPr txBox="1"/>
          <p:nvPr/>
        </p:nvSpPr>
        <p:spPr>
          <a:xfrm>
            <a:off x="8019288" y="5440680"/>
            <a:ext cx="1453896" cy="457200"/>
          </a:xfrm>
          <a:prstGeom prst="rect">
            <a:avLst/>
          </a:prstGeom>
          <a:noFill/>
          <a:ln/>
        </p:spPr>
        <p:txBody>
          <a:bodyPr wrap="square" lIns="0" tIns="0" rIns="0" bIns="0" rtlCol="0" anchor="t"/>
          <a:lstStyle/>
          <a:p>
            <a:pPr indent="0" marL="0">
              <a:buNone/>
            </a:pPr>
            <a:r>
              <a:rPr lang="en-US" sz="1500" b="1" dirty="0">
                <a:solidFill>
                  <a:schemeClr val="tx1"/>
                </a:solidFill>
              </a:rPr>
              <a:t>Docker</a:t>
            </a:r>
            <a:endParaRPr lang="en-US" sz="1500" dirty="0"/>
          </a:p>
        </p:txBody>
      </p:sp>
      <p:sp>
        <p:nvSpPr>
          <p:cNvPr id="68" name="Shape 66"/>
          <p:cNvSpPr/>
          <p:nvPr/>
        </p:nvSpPr>
        <p:spPr>
          <a:xfrm>
            <a:off x="9838944" y="4663440"/>
            <a:ext cx="1819656" cy="1371600"/>
          </a:xfrm>
          <a:prstGeom prst="roundRect">
            <a:avLst>
              <a:gd name="adj" fmla="val 8000"/>
            </a:avLst>
          </a:prstGeom>
          <a:solidFill>
            <a:schemeClr val="accent2"/>
          </a:solidFill>
          <a:ln w="12700">
            <a:solidFill>
              <a:schemeClr val="accent2"/>
            </a:solidFill>
            <a:prstDash val="solid"/>
          </a:ln>
        </p:spPr>
      </p:sp>
      <p:sp>
        <p:nvSpPr>
          <p:cNvPr id="69" name="Shape 67"/>
          <p:cNvSpPr/>
          <p:nvPr/>
        </p:nvSpPr>
        <p:spPr>
          <a:xfrm>
            <a:off x="10021824" y="4846320"/>
            <a:ext cx="457200" cy="457200"/>
          </a:xfrm>
          <a:prstGeom prst="ellipse">
            <a:avLst/>
          </a:prstGeom>
          <a:solidFill>
            <a:schemeClr val="accent1"/>
          </a:solidFill>
          <a:ln w="12700">
            <a:solidFill>
              <a:schemeClr val="accent1"/>
            </a:solidFill>
            <a:prstDash val="solid"/>
          </a:ln>
        </p:spPr>
      </p:sp>
      <p:sp>
        <p:nvSpPr>
          <p:cNvPr id="70" name="Text 68"/>
          <p:cNvSpPr txBox="1"/>
          <p:nvPr/>
        </p:nvSpPr>
        <p:spPr>
          <a:xfrm>
            <a:off x="10021824"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15</a:t>
            </a:r>
            <a:endParaRPr lang="en-US" sz="1400" dirty="0"/>
          </a:p>
        </p:txBody>
      </p:sp>
      <p:sp>
        <p:nvSpPr>
          <p:cNvPr id="71" name="Text 69"/>
          <p:cNvSpPr txBox="1"/>
          <p:nvPr/>
        </p:nvSpPr>
        <p:spPr>
          <a:xfrm>
            <a:off x="10570464" y="4937760"/>
            <a:ext cx="905256" cy="274320"/>
          </a:xfrm>
          <a:prstGeom prst="rect">
            <a:avLst/>
          </a:prstGeom>
          <a:noFill/>
          <a:ln/>
        </p:spPr>
        <p:txBody>
          <a:bodyPr wrap="square" lIns="0" tIns="0" rIns="0" bIns="0" rtlCol="0" anchor="ctr"/>
          <a:lstStyle/>
          <a:p>
            <a:pPr algn="r" indent="0" marL="0">
              <a:buNone/>
            </a:pPr>
            <a:r>
              <a:rPr lang="en-US" sz="1000" b="1" spc="100" kern="0" dirty="0">
                <a:solidFill>
                  <a:schemeClr val="tx1"/>
                </a:solidFill>
              </a:rPr>
              <a:t>DEMO</a:t>
            </a:r>
            <a:endParaRPr lang="en-US" sz="1000" dirty="0"/>
          </a:p>
        </p:txBody>
      </p:sp>
      <p:sp>
        <p:nvSpPr>
          <p:cNvPr id="72" name="Text 70"/>
          <p:cNvSpPr txBox="1"/>
          <p:nvPr/>
        </p:nvSpPr>
        <p:spPr>
          <a:xfrm>
            <a:off x="10021824" y="5440680"/>
            <a:ext cx="1453896" cy="457200"/>
          </a:xfrm>
          <a:prstGeom prst="rect">
            <a:avLst/>
          </a:prstGeom>
          <a:noFill/>
          <a:ln/>
        </p:spPr>
        <p:txBody>
          <a:bodyPr wrap="square" lIns="0" tIns="0" rIns="0" bIns="0" rtlCol="0" anchor="t"/>
          <a:lstStyle/>
          <a:p>
            <a:pPr indent="0" marL="0">
              <a:buNone/>
            </a:pPr>
            <a:r>
              <a:rPr lang="en-US" sz="1500" b="1" dirty="0">
                <a:solidFill>
                  <a:schemeClr val="tx1"/>
                </a:solidFill>
              </a:rPr>
              <a:t>Final demo</a:t>
            </a:r>
            <a:endParaRPr lang="en-US" sz="15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Every session follows the same rhythm</a:t>
            </a:r>
            <a:endParaRPr lang="en-US" sz="3200" dirty="0"/>
          </a:p>
        </p:txBody>
      </p:sp>
      <p:sp>
        <p:nvSpPr>
          <p:cNvPr id="3" name="Shape 1"/>
          <p:cNvSpPr/>
          <p:nvPr/>
        </p:nvSpPr>
        <p:spPr>
          <a:xfrm>
            <a:off x="548640" y="1417320"/>
            <a:ext cx="3489960" cy="329184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868680" y="1691640"/>
            <a:ext cx="2849880" cy="1097280"/>
          </a:xfrm>
          <a:prstGeom prst="rect">
            <a:avLst/>
          </a:prstGeom>
          <a:noFill/>
          <a:ln/>
        </p:spPr>
        <p:txBody>
          <a:bodyPr wrap="square" lIns="0" tIns="0" rIns="0" bIns="0" rtlCol="0" anchor="b"/>
          <a:lstStyle/>
          <a:p>
            <a:pPr indent="0" marL="0">
              <a:buNone/>
            </a:pPr>
            <a:r>
              <a:rPr lang="en-US" sz="6600" b="1" dirty="0">
                <a:solidFill>
                  <a:schemeClr val="accent1"/>
                </a:solidFill>
              </a:rPr>
              <a:t>30</a:t>
            </a:r>
            <a:pPr indent="0" marL="0">
              <a:buNone/>
            </a:pPr>
            <a:r>
              <a:rPr lang="en-US" sz="2200" b="1" dirty="0">
                <a:solidFill>
                  <a:schemeClr val="tx2"/>
                </a:solidFill>
              </a:rPr>
              <a:t> min</a:t>
            </a:r>
            <a:endParaRPr lang="en-US" sz="6600" dirty="0"/>
          </a:p>
        </p:txBody>
      </p:sp>
      <p:sp>
        <p:nvSpPr>
          <p:cNvPr id="5" name="Text 3"/>
          <p:cNvSpPr txBox="1"/>
          <p:nvPr/>
        </p:nvSpPr>
        <p:spPr>
          <a:xfrm>
            <a:off x="868680" y="2971800"/>
            <a:ext cx="2849880" cy="411480"/>
          </a:xfrm>
          <a:prstGeom prst="rect">
            <a:avLst/>
          </a:prstGeom>
          <a:noFill/>
          <a:ln/>
        </p:spPr>
        <p:txBody>
          <a:bodyPr wrap="square" lIns="0" tIns="0" rIns="0" bIns="0" rtlCol="0" anchor="ctr"/>
          <a:lstStyle/>
          <a:p>
            <a:pPr indent="0" marL="0">
              <a:buNone/>
            </a:pPr>
            <a:r>
              <a:rPr lang="en-US" sz="1900" b="1" dirty="0">
                <a:solidFill>
                  <a:schemeClr val="tx1"/>
                </a:solidFill>
              </a:rPr>
              <a:t>Concept and live coding</a:t>
            </a:r>
            <a:endParaRPr lang="en-US" sz="1900" dirty="0"/>
          </a:p>
        </p:txBody>
      </p:sp>
      <p:sp>
        <p:nvSpPr>
          <p:cNvPr id="6" name="Text 4"/>
          <p:cNvSpPr txBox="1"/>
          <p:nvPr/>
        </p:nvSpPr>
        <p:spPr>
          <a:xfrm>
            <a:off x="868680" y="3429000"/>
            <a:ext cx="2849880" cy="1005840"/>
          </a:xfrm>
          <a:prstGeom prst="rect">
            <a:avLst/>
          </a:prstGeom>
          <a:noFill/>
          <a:ln/>
        </p:spPr>
        <p:txBody>
          <a:bodyPr wrap="square" lIns="0" tIns="0" rIns="0" bIns="0" rtlCol="0" anchor="t"/>
          <a:lstStyle/>
          <a:p>
            <a:pPr indent="0" marL="0">
              <a:buNone/>
            </a:pPr>
            <a:r>
              <a:rPr lang="en-US" sz="1500" dirty="0">
                <a:solidFill>
                  <a:schemeClr val="tx2"/>
                </a:solidFill>
              </a:rPr>
              <a:t>Trainer types the code; interns follow and ask why.</a:t>
            </a:r>
            <a:endParaRPr lang="en-US" sz="1500" dirty="0"/>
          </a:p>
        </p:txBody>
      </p:sp>
      <p:sp>
        <p:nvSpPr>
          <p:cNvPr id="7" name="Shape 5"/>
          <p:cNvSpPr/>
          <p:nvPr/>
        </p:nvSpPr>
        <p:spPr>
          <a:xfrm>
            <a:off x="4358640" y="1417320"/>
            <a:ext cx="3489960" cy="3291840"/>
          </a:xfrm>
          <a:prstGeom prst="roundRect">
            <a:avLst>
              <a:gd name="adj" fmla="val 3333"/>
            </a:avLst>
          </a:prstGeom>
          <a:solidFill>
            <a:schemeClr val="bg2"/>
          </a:solidFill>
          <a:ln w="12700">
            <a:solidFill>
              <a:schemeClr val="bg2"/>
            </a:solidFill>
            <a:prstDash val="solid"/>
          </a:ln>
        </p:spPr>
      </p:sp>
      <p:sp>
        <p:nvSpPr>
          <p:cNvPr id="8" name="Text 6"/>
          <p:cNvSpPr txBox="1"/>
          <p:nvPr/>
        </p:nvSpPr>
        <p:spPr>
          <a:xfrm>
            <a:off x="4678680" y="1691640"/>
            <a:ext cx="2849880" cy="1097280"/>
          </a:xfrm>
          <a:prstGeom prst="rect">
            <a:avLst/>
          </a:prstGeom>
          <a:noFill/>
          <a:ln/>
        </p:spPr>
        <p:txBody>
          <a:bodyPr wrap="square" lIns="0" tIns="0" rIns="0" bIns="0" rtlCol="0" anchor="b"/>
          <a:lstStyle/>
          <a:p>
            <a:pPr indent="0" marL="0">
              <a:buNone/>
            </a:pPr>
            <a:r>
              <a:rPr lang="en-US" sz="6600" b="1" dirty="0">
                <a:solidFill>
                  <a:schemeClr val="accent1"/>
                </a:solidFill>
              </a:rPr>
              <a:t>90</a:t>
            </a:r>
            <a:pPr indent="0" marL="0">
              <a:buNone/>
            </a:pPr>
            <a:r>
              <a:rPr lang="en-US" sz="2200" b="1" dirty="0">
                <a:solidFill>
                  <a:schemeClr val="tx2"/>
                </a:solidFill>
              </a:rPr>
              <a:t> min</a:t>
            </a:r>
            <a:endParaRPr lang="en-US" sz="6600" dirty="0"/>
          </a:p>
        </p:txBody>
      </p:sp>
      <p:sp>
        <p:nvSpPr>
          <p:cNvPr id="9" name="Text 7"/>
          <p:cNvSpPr txBox="1"/>
          <p:nvPr/>
        </p:nvSpPr>
        <p:spPr>
          <a:xfrm>
            <a:off x="4678680" y="2971800"/>
            <a:ext cx="2849880" cy="411480"/>
          </a:xfrm>
          <a:prstGeom prst="rect">
            <a:avLst/>
          </a:prstGeom>
          <a:noFill/>
          <a:ln/>
        </p:spPr>
        <p:txBody>
          <a:bodyPr wrap="square" lIns="0" tIns="0" rIns="0" bIns="0" rtlCol="0" anchor="ctr"/>
          <a:lstStyle/>
          <a:p>
            <a:pPr indent="0" marL="0">
              <a:buNone/>
            </a:pPr>
            <a:r>
              <a:rPr lang="en-US" sz="1900" b="1" dirty="0">
                <a:solidFill>
                  <a:schemeClr val="tx1"/>
                </a:solidFill>
              </a:rPr>
              <a:t>Build</a:t>
            </a:r>
            <a:endParaRPr lang="en-US" sz="1900" dirty="0"/>
          </a:p>
        </p:txBody>
      </p:sp>
      <p:sp>
        <p:nvSpPr>
          <p:cNvPr id="10" name="Text 8"/>
          <p:cNvSpPr txBox="1"/>
          <p:nvPr/>
        </p:nvSpPr>
        <p:spPr>
          <a:xfrm>
            <a:off x="4678680" y="3429000"/>
            <a:ext cx="2849880" cy="1005840"/>
          </a:xfrm>
          <a:prstGeom prst="rect">
            <a:avLst/>
          </a:prstGeom>
          <a:noFill/>
          <a:ln/>
        </p:spPr>
        <p:txBody>
          <a:bodyPr wrap="square" lIns="0" tIns="0" rIns="0" bIns="0" rtlCol="0" anchor="t"/>
          <a:lstStyle/>
          <a:p>
            <a:pPr indent="0" marL="0">
              <a:buNone/>
            </a:pPr>
            <a:r>
              <a:rPr lang="en-US" sz="1500" dirty="0">
                <a:solidFill>
                  <a:schemeClr val="tx2"/>
                </a:solidFill>
              </a:rPr>
              <a:t>Interns implement the day's task in pairs, mentors circulate.</a:t>
            </a:r>
            <a:endParaRPr lang="en-US" sz="1500" dirty="0"/>
          </a:p>
        </p:txBody>
      </p:sp>
      <p:sp>
        <p:nvSpPr>
          <p:cNvPr id="11" name="Shape 9"/>
          <p:cNvSpPr/>
          <p:nvPr/>
        </p:nvSpPr>
        <p:spPr>
          <a:xfrm>
            <a:off x="8168640" y="1417320"/>
            <a:ext cx="3489960" cy="3291840"/>
          </a:xfrm>
          <a:prstGeom prst="roundRect">
            <a:avLst>
              <a:gd name="adj" fmla="val 3333"/>
            </a:avLst>
          </a:prstGeom>
          <a:solidFill>
            <a:schemeClr val="bg2"/>
          </a:solidFill>
          <a:ln w="12700">
            <a:solidFill>
              <a:schemeClr val="bg2"/>
            </a:solidFill>
            <a:prstDash val="solid"/>
          </a:ln>
        </p:spPr>
      </p:sp>
      <p:sp>
        <p:nvSpPr>
          <p:cNvPr id="12" name="Text 10"/>
          <p:cNvSpPr txBox="1"/>
          <p:nvPr/>
        </p:nvSpPr>
        <p:spPr>
          <a:xfrm>
            <a:off x="8488680" y="1691640"/>
            <a:ext cx="2849880" cy="1097280"/>
          </a:xfrm>
          <a:prstGeom prst="rect">
            <a:avLst/>
          </a:prstGeom>
          <a:noFill/>
          <a:ln/>
        </p:spPr>
        <p:txBody>
          <a:bodyPr wrap="square" lIns="0" tIns="0" rIns="0" bIns="0" rtlCol="0" anchor="b"/>
          <a:lstStyle/>
          <a:p>
            <a:pPr indent="0" marL="0">
              <a:buNone/>
            </a:pPr>
            <a:r>
              <a:rPr lang="en-US" sz="6600" b="1" dirty="0">
                <a:solidFill>
                  <a:schemeClr val="accent1"/>
                </a:solidFill>
              </a:rPr>
              <a:t>20</a:t>
            </a:r>
            <a:pPr indent="0" marL="0">
              <a:buNone/>
            </a:pPr>
            <a:r>
              <a:rPr lang="en-US" sz="2200" b="1" dirty="0">
                <a:solidFill>
                  <a:schemeClr val="tx2"/>
                </a:solidFill>
              </a:rPr>
              <a:t> min</a:t>
            </a:r>
            <a:endParaRPr lang="en-US" sz="6600" dirty="0"/>
          </a:p>
        </p:txBody>
      </p:sp>
      <p:sp>
        <p:nvSpPr>
          <p:cNvPr id="13" name="Text 11"/>
          <p:cNvSpPr txBox="1"/>
          <p:nvPr/>
        </p:nvSpPr>
        <p:spPr>
          <a:xfrm>
            <a:off x="8488680" y="2971800"/>
            <a:ext cx="2849880" cy="411480"/>
          </a:xfrm>
          <a:prstGeom prst="rect">
            <a:avLst/>
          </a:prstGeom>
          <a:noFill/>
          <a:ln/>
        </p:spPr>
        <p:txBody>
          <a:bodyPr wrap="square" lIns="0" tIns="0" rIns="0" bIns="0" rtlCol="0" anchor="ctr"/>
          <a:lstStyle/>
          <a:p>
            <a:pPr indent="0" marL="0">
              <a:buNone/>
            </a:pPr>
            <a:r>
              <a:rPr lang="en-US" sz="1900" b="1" dirty="0">
                <a:solidFill>
                  <a:schemeClr val="tx1"/>
                </a:solidFill>
              </a:rPr>
              <a:t>Review and preview</a:t>
            </a:r>
            <a:endParaRPr lang="en-US" sz="1900" dirty="0"/>
          </a:p>
        </p:txBody>
      </p:sp>
      <p:sp>
        <p:nvSpPr>
          <p:cNvPr id="14" name="Text 12"/>
          <p:cNvSpPr txBox="1"/>
          <p:nvPr/>
        </p:nvSpPr>
        <p:spPr>
          <a:xfrm>
            <a:off x="8488680" y="3429000"/>
            <a:ext cx="2849880" cy="1005840"/>
          </a:xfrm>
          <a:prstGeom prst="rect">
            <a:avLst/>
          </a:prstGeom>
          <a:noFill/>
          <a:ln/>
        </p:spPr>
        <p:txBody>
          <a:bodyPr wrap="square" lIns="0" tIns="0" rIns="0" bIns="0" rtlCol="0" anchor="t"/>
          <a:lstStyle/>
          <a:p>
            <a:pPr indent="0" marL="0">
              <a:buNone/>
            </a:pPr>
            <a:r>
              <a:rPr lang="en-US" sz="1500" dirty="0">
                <a:solidFill>
                  <a:schemeClr val="tx2"/>
                </a:solidFill>
              </a:rPr>
              <a:t>Walk through one or two PRs; preview tomorrow.</a:t>
            </a:r>
            <a:endParaRPr lang="en-US" sz="1500" dirty="0"/>
          </a:p>
        </p:txBody>
      </p:sp>
      <p:sp>
        <p:nvSpPr>
          <p:cNvPr id="15" name="Shape 13"/>
          <p:cNvSpPr/>
          <p:nvPr/>
        </p:nvSpPr>
        <p:spPr>
          <a:xfrm>
            <a:off x="548640" y="5029200"/>
            <a:ext cx="11109960" cy="1188720"/>
          </a:xfrm>
          <a:prstGeom prst="roundRect">
            <a:avLst>
              <a:gd name="adj" fmla="val 9231"/>
            </a:avLst>
          </a:prstGeom>
          <a:solidFill>
            <a:schemeClr val="tx1"/>
          </a:solidFill>
          <a:ln w="12700">
            <a:solidFill>
              <a:schemeClr val="tx1"/>
            </a:solidFill>
            <a:prstDash val="solid"/>
          </a:ln>
        </p:spPr>
      </p:sp>
      <p:pic>
        <p:nvPicPr>
          <p:cNvPr id="16" name="Image 0" descr="preencoded.png">    </p:cNvPr>
          <p:cNvPicPr>
            <a:picLocks noChangeAspect="1"/>
          </p:cNvPicPr>
          <p:nvPr/>
        </p:nvPicPr>
        <p:blipFill>
          <a:blip r:embed="rId1"/>
          <a:stretch>
            <a:fillRect/>
          </a:stretch>
        </p:blipFill>
        <p:spPr>
          <a:xfrm>
            <a:off x="868680" y="5349240"/>
            <a:ext cx="548640" cy="548640"/>
          </a:xfrm>
          <a:prstGeom prst="rect">
            <a:avLst/>
          </a:prstGeom>
        </p:spPr>
      </p:pic>
      <p:sp>
        <p:nvSpPr>
          <p:cNvPr id="17" name="Text 14"/>
          <p:cNvSpPr txBox="1"/>
          <p:nvPr/>
        </p:nvSpPr>
        <p:spPr>
          <a:xfrm>
            <a:off x="1691640" y="5029200"/>
            <a:ext cx="9692640" cy="1188720"/>
          </a:xfrm>
          <a:prstGeom prst="rect">
            <a:avLst/>
          </a:prstGeom>
          <a:noFill/>
          <a:ln/>
        </p:spPr>
        <p:txBody>
          <a:bodyPr wrap="square" lIns="0" tIns="0" rIns="0" bIns="0" rtlCol="0" anchor="ctr"/>
          <a:lstStyle/>
          <a:p>
            <a:pPr indent="0" marL="0">
              <a:buNone/>
            </a:pPr>
            <a:r>
              <a:rPr lang="en-US" sz="2200" b="1" dirty="0">
                <a:solidFill>
                  <a:schemeClr val="bg1"/>
                </a:solidFill>
              </a:rPr>
              <a:t>Every day ends with one merged PR and a running app.</a:t>
            </a:r>
            <a:endParaRPr lang="en-US" sz="2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2011680"/>
            <a:ext cx="3657600" cy="365760"/>
          </a:xfrm>
          <a:prstGeom prst="rect">
            <a:avLst/>
          </a:prstGeom>
          <a:noFill/>
          <a:ln/>
        </p:spPr>
        <p:txBody>
          <a:bodyPr wrap="square" lIns="0" tIns="0" rIns="0" bIns="0" rtlCol="0" anchor="ctr"/>
          <a:lstStyle/>
          <a:p>
            <a:pPr indent="0" marL="0">
              <a:buNone/>
            </a:pPr>
            <a:r>
              <a:rPr lang="en-US" sz="1600" b="1" spc="300" kern="0" dirty="0">
                <a:solidFill>
                  <a:schemeClr val="accent2"/>
                </a:solidFill>
              </a:rPr>
              <a:t>WEEK 1</a:t>
            </a:r>
            <a:endParaRPr lang="en-US" sz="1600" dirty="0"/>
          </a:p>
        </p:txBody>
      </p:sp>
      <p:sp>
        <p:nvSpPr>
          <p:cNvPr id="3" name="Text 0"/>
          <p:cNvSpPr/>
          <p:nvPr>
            <p:ph idx="100" type="title" hasCustomPrompt="1"/>
          </p:nvPr>
        </p:nvSpPr>
        <p:spPr>
          <a:xfrm>
            <a:off x="731520" y="2468880"/>
            <a:ext cx="5486400" cy="1005840"/>
          </a:xfrm>
          <a:prstGeom prst="rect">
            <a:avLst/>
          </a:prstGeom>
          <a:noFill/>
          <a:ln/>
        </p:spPr>
        <p:txBody>
          <a:bodyPr wrap="square" lIns="0" tIns="0" rIns="0" bIns="0" rtlCol="0" anchor="t"/>
          <a:lstStyle/>
          <a:p>
            <a:pPr algn="l" indent="0" marL="0">
              <a:buNone/>
            </a:pPr>
            <a:r>
              <a:rPr lang="en-US" sz="4000" b="1" dirty="0">
                <a:solidFill>
                  <a:schemeClr val="bg1"/>
                </a:solidFill>
              </a:rPr>
              <a:t>Foundations</a:t>
            </a:r>
            <a:endParaRPr lang="en-US" sz="4000" dirty="0"/>
          </a:p>
        </p:txBody>
      </p:sp>
      <p:sp>
        <p:nvSpPr>
          <p:cNvPr id="4" name="Text 0"/>
          <p:cNvSpPr/>
          <p:nvPr>
            <p:ph idx="101" type="body" hasCustomPrompt="1"/>
          </p:nvPr>
        </p:nvSpPr>
        <p:spPr>
          <a:xfrm>
            <a:off x="731520" y="3566160"/>
            <a:ext cx="4937760" cy="1280160"/>
          </a:xfrm>
          <a:prstGeom prst="rect">
            <a:avLst/>
          </a:prstGeom>
          <a:noFill/>
          <a:ln/>
        </p:spPr>
        <p:txBody>
          <a:bodyPr wrap="square" lIns="0" tIns="0" rIns="0" bIns="0" rtlCol="0" anchor="t"/>
          <a:lstStyle/>
          <a:p>
            <a:pPr indent="0" marL="0">
              <a:buNone/>
            </a:pPr>
            <a:r>
              <a:rPr lang="en-US" sz="1800" dirty="0">
                <a:solidFill>
                  <a:schemeClr val="accent5"/>
                </a:solidFill>
              </a:rPr>
              <a:t>Python, FastAPI, schemas, layers, and the data model.</a:t>
            </a:r>
            <a:endParaRPr lang="en-US" sz="1800" dirty="0"/>
          </a:p>
        </p:txBody>
      </p:sp>
      <p:sp>
        <p:nvSpPr>
          <p:cNvPr id="5" name="Text 3"/>
          <p:cNvSpPr txBox="1"/>
          <p:nvPr/>
        </p:nvSpPr>
        <p:spPr>
          <a:xfrm>
            <a:off x="731520" y="5120640"/>
            <a:ext cx="4937760" cy="822960"/>
          </a:xfrm>
          <a:prstGeom prst="rect">
            <a:avLst/>
          </a:prstGeom>
          <a:noFill/>
          <a:ln/>
        </p:spPr>
        <p:txBody>
          <a:bodyPr wrap="square" lIns="0" tIns="0" rIns="0" bIns="0" rtlCol="0" anchor="t"/>
          <a:lstStyle/>
          <a:p>
            <a:pPr indent="0" marL="0">
              <a:buNone/>
            </a:pPr>
            <a:r>
              <a:rPr lang="en-US" sz="1600" i="1" dirty="0">
                <a:solidFill>
                  <a:schemeClr val="accent4"/>
                </a:solidFill>
              </a:rPr>
              <a:t>By Day 5: a layered API with validated input and database models.</a:t>
            </a:r>
            <a:endParaRPr lang="en-US" sz="1600" dirty="0"/>
          </a:p>
        </p:txBody>
      </p:sp>
      <p:sp>
        <p:nvSpPr>
          <p:cNvPr id="6" name="Shape 4"/>
          <p:cNvSpPr/>
          <p:nvPr/>
        </p:nvSpPr>
        <p:spPr>
          <a:xfrm>
            <a:off x="6583680" y="1097280"/>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6583680" y="10972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7452360" y="109728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Python essentials for API work</a:t>
            </a:r>
            <a:endParaRPr lang="en-US" sz="1700" dirty="0"/>
          </a:p>
        </p:txBody>
      </p:sp>
      <p:sp>
        <p:nvSpPr>
          <p:cNvPr id="9" name="Shape 7"/>
          <p:cNvSpPr/>
          <p:nvPr/>
        </p:nvSpPr>
        <p:spPr>
          <a:xfrm>
            <a:off x="6583680" y="205740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6583680" y="20574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7452360" y="205740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FastAPI fundamentals</a:t>
            </a:r>
            <a:endParaRPr lang="en-US" sz="1700" dirty="0"/>
          </a:p>
        </p:txBody>
      </p:sp>
      <p:sp>
        <p:nvSpPr>
          <p:cNvPr id="12" name="Shape 10"/>
          <p:cNvSpPr/>
          <p:nvPr/>
        </p:nvSpPr>
        <p:spPr>
          <a:xfrm>
            <a:off x="6583680" y="301752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6583680" y="3017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7452360" y="301752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Pydantic schemas: validate at the edge</a:t>
            </a:r>
            <a:endParaRPr lang="en-US" sz="1700" dirty="0"/>
          </a:p>
        </p:txBody>
      </p:sp>
      <p:sp>
        <p:nvSpPr>
          <p:cNvPr id="15" name="Shape 13"/>
          <p:cNvSpPr/>
          <p:nvPr/>
        </p:nvSpPr>
        <p:spPr>
          <a:xfrm>
            <a:off x="6583680" y="397764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6583680" y="39776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7452360" y="397764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Routers and dependency injection</a:t>
            </a:r>
            <a:endParaRPr lang="en-US" sz="1700" dirty="0"/>
          </a:p>
        </p:txBody>
      </p:sp>
      <p:sp>
        <p:nvSpPr>
          <p:cNvPr id="18" name="Shape 16"/>
          <p:cNvSpPr/>
          <p:nvPr/>
        </p:nvSpPr>
        <p:spPr>
          <a:xfrm>
            <a:off x="6583680" y="4937760"/>
            <a:ext cx="640080" cy="640080"/>
          </a:xfrm>
          <a:prstGeom prst="ellipse">
            <a:avLst/>
          </a:prstGeom>
          <a:solidFill>
            <a:schemeClr val="accent1"/>
          </a:solidFill>
          <a:ln w="12700">
            <a:solidFill>
              <a:schemeClr val="accent1"/>
            </a:solidFill>
            <a:prstDash val="solid"/>
          </a:ln>
        </p:spPr>
      </p:sp>
      <p:sp>
        <p:nvSpPr>
          <p:cNvPr id="19" name="Text 17"/>
          <p:cNvSpPr txBox="1"/>
          <p:nvPr/>
        </p:nvSpPr>
        <p:spPr>
          <a:xfrm>
            <a:off x="6583680" y="4937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0" name="Text 18"/>
          <p:cNvSpPr txBox="1"/>
          <p:nvPr/>
        </p:nvSpPr>
        <p:spPr>
          <a:xfrm>
            <a:off x="7452360" y="493776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Database models with SQLAlchemy 2.0</a:t>
            </a:r>
            <a:endParaRPr lang="en-US" sz="17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Python essentials for API work</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Everyone writes typed, modern Python and runs the starter repo.</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Type hints: str, int, list[T], T | None</a:t>
            </a:r>
            <a:endParaRPr lang="en-US" sz="1500" dirty="0"/>
          </a:p>
          <a:p>
            <a:pPr marL="342900" indent="-342900">
              <a:spcAft>
                <a:spcPts val="600"/>
              </a:spcAft>
              <a:buSzPct val="100000"/>
              <a:buChar char="•"/>
            </a:pPr>
            <a:r>
              <a:rPr lang="en-US" sz="1500" dirty="0">
                <a:solidFill>
                  <a:schemeClr val="tx1"/>
                </a:solidFill>
              </a:rPr>
              <a:t>Dataclasses and f-strings</a:t>
            </a:r>
            <a:endParaRPr lang="en-US" sz="1500" dirty="0"/>
          </a:p>
          <a:p>
            <a:pPr marL="342900" indent="-342900">
              <a:spcAft>
                <a:spcPts val="600"/>
              </a:spcAft>
              <a:buSzPct val="100000"/>
              <a:buChar char="•"/>
            </a:pPr>
            <a:r>
              <a:rPr lang="en-US" sz="1500" dirty="0">
                <a:solidFill>
                  <a:schemeClr val="tx1"/>
                </a:solidFill>
              </a:rPr>
              <a:t>async / await: why I/O-bound code waits</a:t>
            </a:r>
            <a:endParaRPr lang="en-US" sz="1500" dirty="0"/>
          </a:p>
          <a:p>
            <a:pPr marL="342900" indent="-342900">
              <a:spcAft>
                <a:spcPts val="600"/>
              </a:spcAft>
              <a:buSzPct val="100000"/>
              <a:buChar char="•"/>
            </a:pPr>
            <a:r>
              <a:rPr lang="en-US" sz="1500" dirty="0">
                <a:solidFill>
                  <a:schemeClr val="tx1"/>
                </a:solidFill>
              </a:rPr>
              <a:t>uv: one tool for env, dependencies, and running</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Clone the starter repo, run uv sync, and get /health responding on localhost:8000.</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PR #1: environment works, /health returns {"status": "ok"}.</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400" dirty="0">
                <a:solidFill>
                  <a:schemeClr val="accent4"/>
                </a:solidFill>
                <a:latin typeface="Courier New" pitchFamily="34" charset="0"/>
                <a:ea typeface="Courier New" pitchFamily="34" charset="-122"/>
                <a:cs typeface="Courier New" pitchFamily="34" charset="-120"/>
              </a:rPr>
              <a:t># Type hints make intent explicit</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from dataclasses import dataclass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@dataclass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class Task:</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title: str</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done: bool = False</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def pending(tasks: list[Task]) -&gt; list[Task]:</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return [t for t in tasks if not t.done]</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accent4"/>
                </a:solidFill>
                <a:latin typeface="Courier New" pitchFamily="34" charset="0"/>
                <a:ea typeface="Courier New" pitchFamily="34" charset="-122"/>
                <a:cs typeface="Courier New" pitchFamily="34" charset="-120"/>
              </a:rPr>
              <a:t># app/main.py - the first endpoint</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from fastapi import FastAPI</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app = FastAPI(title="Task Tracker")</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@app.get("/health")</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def health() -&gt; dict[str, str]:</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return {"status": "ok"}</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accent4"/>
                </a:solidFill>
                <a:latin typeface="Courier New" pitchFamily="34" charset="0"/>
                <a:ea typeface="Courier New" pitchFamily="34" charset="-122"/>
                <a:cs typeface="Courier New" pitchFamily="34" charset="-120"/>
              </a:rPr>
              <a:t># run: uv run fastapi dev app/main.py</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FastAPI fundamentals</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Understand how an HTTP request becomes a Python function call.</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Path operations: @app.get, @app.post</a:t>
            </a:r>
            <a:endParaRPr lang="en-US" sz="1500" dirty="0"/>
          </a:p>
          <a:p>
            <a:pPr marL="342900" indent="-342900">
              <a:spcAft>
                <a:spcPts val="600"/>
              </a:spcAft>
              <a:buSzPct val="100000"/>
              <a:buChar char="•"/>
            </a:pPr>
            <a:r>
              <a:rPr lang="en-US" sz="1500" dirty="0">
                <a:solidFill>
                  <a:schemeClr val="tx1"/>
                </a:solidFill>
              </a:rPr>
              <a:t>Path parameters vs query parameters</a:t>
            </a:r>
            <a:endParaRPr lang="en-US" sz="1500" dirty="0"/>
          </a:p>
          <a:p>
            <a:pPr marL="342900" indent="-342900">
              <a:spcAft>
                <a:spcPts val="600"/>
              </a:spcAft>
              <a:buSzPct val="100000"/>
              <a:buChar char="•"/>
            </a:pPr>
            <a:r>
              <a:rPr lang="en-US" sz="1500" dirty="0">
                <a:solidFill>
                  <a:schemeClr val="tx1"/>
                </a:solidFill>
              </a:rPr>
              <a:t>Automatic OpenAPI docs at /docs</a:t>
            </a:r>
            <a:endParaRPr lang="en-US" sz="1500" dirty="0"/>
          </a:p>
          <a:p>
            <a:pPr marL="342900" indent="-342900">
              <a:spcAft>
                <a:spcPts val="600"/>
              </a:spcAft>
              <a:buSzPct val="100000"/>
              <a:buChar char="•"/>
            </a:pPr>
            <a:r>
              <a:rPr lang="en-US" sz="1500" dirty="0">
                <a:solidFill>
                  <a:schemeClr val="tx1"/>
                </a:solidFill>
              </a:rPr>
              <a:t>Return values become JSON responses</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Build list and get-by-id endpoints for tasks using an in-memory dict.</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Task endpoints are visible and callable from /docs.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400" dirty="0">
                <a:solidFill>
                  <a:schemeClr val="accent4"/>
                </a:solidFill>
                <a:latin typeface="Courier New" pitchFamily="34" charset="0"/>
                <a:ea typeface="Courier New" pitchFamily="34" charset="-122"/>
                <a:cs typeface="Courier New" pitchFamily="34" charset="-120"/>
              </a:rPr>
              <a:t># app/main.py</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from fastapi import FastAPI</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app = FastAPI(title="Task Tracker")</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tasks: dict[int, dict] =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@app.get("/tasks")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def list_tasks(status: str | None = None):</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items = list(tasks.values())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if status: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items = [t for t in items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if t["status"] == status]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return items</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@app.get("/tasks/{task_id}")</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def get_task(task_id: int):</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return tasks[task_id]</a:t>
            </a:r>
            <a:endParaRPr lang="en-US" sz="1400" dirty="0"/>
          </a:p>
          <a:p>
            <a:pPr indent="0" marL="0">
              <a:lnSpc>
                <a:spcPct val="100000"/>
              </a:lnSpc>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chemeClr val="accent4"/>
                </a:solidFill>
                <a:latin typeface="Courier New" pitchFamily="34" charset="0"/>
                <a:ea typeface="Courier New" pitchFamily="34" charset="-122"/>
                <a:cs typeface="Courier New" pitchFamily="34" charset="-120"/>
              </a:rPr>
              <a:t># open http://127.0.0.1:8000/docs</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Pydantic schemas: validate at the edge</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Bad input is rejected before it reaches business logic.</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BaseModel for request and response bodies</a:t>
            </a:r>
            <a:endParaRPr lang="en-US" sz="1500" dirty="0"/>
          </a:p>
          <a:p>
            <a:pPr marL="342900" indent="-342900">
              <a:spcAft>
                <a:spcPts val="600"/>
              </a:spcAft>
              <a:buSzPct val="100000"/>
              <a:buChar char="•"/>
            </a:pPr>
            <a:r>
              <a:rPr lang="en-US" sz="1500" dirty="0">
                <a:solidFill>
                  <a:schemeClr val="tx1"/>
                </a:solidFill>
              </a:rPr>
              <a:t>Field constraints: lengths and ranges</a:t>
            </a:r>
            <a:endParaRPr lang="en-US" sz="1500" dirty="0"/>
          </a:p>
          <a:p>
            <a:pPr marL="342900" indent="-342900">
              <a:spcAft>
                <a:spcPts val="600"/>
              </a:spcAft>
              <a:buSzPct val="100000"/>
              <a:buChar char="•"/>
            </a:pPr>
            <a:r>
              <a:rPr lang="en-US" sz="1500" dirty="0">
                <a:solidFill>
                  <a:schemeClr val="tx1"/>
                </a:solidFill>
              </a:rPr>
              <a:t>StrEnum for fixed values like status</a:t>
            </a:r>
            <a:endParaRPr lang="en-US" sz="1500" dirty="0"/>
          </a:p>
          <a:p>
            <a:pPr marL="342900" indent="-342900">
              <a:spcAft>
                <a:spcPts val="600"/>
              </a:spcAft>
              <a:buSzPct val="100000"/>
              <a:buChar char="•"/>
            </a:pPr>
            <a:r>
              <a:rPr lang="en-US" sz="1500" dirty="0">
                <a:solidFill>
                  <a:schemeClr val="tx1"/>
                </a:solidFill>
              </a:rPr>
              <a:t>Separate Create and Read schemas</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Add TaskCreate and TaskRead; make POST /tasks reject invalid input with 422.</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Invalid titles and priorities return 422 with clear messages.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200" dirty="0">
                <a:solidFill>
                  <a:schemeClr val="accent4"/>
                </a:solidFill>
                <a:latin typeface="Courier New" pitchFamily="34" charset="0"/>
                <a:ea typeface="Courier New" pitchFamily="34" charset="-122"/>
                <a:cs typeface="Courier New" pitchFamily="34" charset="-120"/>
              </a:rPr>
              <a:t># app/schemas/task.py</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datetime import date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enum import StrEnum</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pydantic import BaseModel, Field</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class Status(StrEnum):</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TODO = "todo"</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DOING = "doing"</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DONE = "done"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class TaskCreate(BaseModel):</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title: str = Field(min_length=3, max_length=200)</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priority: int = Field(ge=1, le=5)</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due_date: date | None = None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class TaskRead(TaskCreate):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id: int</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status: Status</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Routers and dependency injection</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Split the app into layers, each with a single job.</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APIRouter: group endpoints by resource</a:t>
            </a:r>
            <a:endParaRPr lang="en-US" sz="1500" dirty="0"/>
          </a:p>
          <a:p>
            <a:pPr marL="342900" indent="-342900">
              <a:spcAft>
                <a:spcPts val="600"/>
              </a:spcAft>
              <a:buSzPct val="100000"/>
              <a:buChar char="•"/>
            </a:pPr>
            <a:r>
              <a:rPr lang="en-US" sz="1500" dirty="0">
                <a:solidFill>
                  <a:schemeClr val="tx1"/>
                </a:solidFill>
              </a:rPr>
              <a:t>Depends(): FastAPI builds what you need</a:t>
            </a:r>
            <a:endParaRPr lang="en-US" sz="1500" dirty="0"/>
          </a:p>
          <a:p>
            <a:pPr marL="342900" indent="-342900">
              <a:spcAft>
                <a:spcPts val="600"/>
              </a:spcAft>
              <a:buSzPct val="100000"/>
              <a:buChar char="•"/>
            </a:pPr>
            <a:r>
              <a:rPr lang="en-US" sz="1500" dirty="0">
                <a:solidFill>
                  <a:schemeClr val="tx1"/>
                </a:solidFill>
              </a:rPr>
              <a:t>Annotated aliases keep signatures short</a:t>
            </a:r>
            <a:endParaRPr lang="en-US" sz="1500" dirty="0"/>
          </a:p>
          <a:p>
            <a:pPr marL="342900" indent="-342900">
              <a:spcAft>
                <a:spcPts val="600"/>
              </a:spcAft>
              <a:buSzPct val="100000"/>
              <a:buChar char="•"/>
            </a:pPr>
            <a:r>
              <a:rPr lang="en-US" sz="1500" dirty="0">
                <a:solidFill>
                  <a:schemeClr val="tx1"/>
                </a:solidFill>
              </a:rPr>
              <a:t>Routers call services; services hold the rules</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Move task endpoints into app/routers/tasks.py and logic into TaskService.</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main.py only creates the app and includes routers.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200" dirty="0">
                <a:solidFill>
                  <a:schemeClr val="accent4"/>
                </a:solidFill>
                <a:latin typeface="Courier New" pitchFamily="34" charset="0"/>
                <a:ea typeface="Courier New" pitchFamily="34" charset="-122"/>
                <a:cs typeface="Courier New" pitchFamily="34" charset="-120"/>
              </a:rPr>
              <a:t># app/routers/tasks.py</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typing import Annotated</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fastapi import APIRouter, Depends</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router = APIRouter(prefix="/tasks", tags=["tasks"])</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def get_service() -&gt; TaskService: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return TaskService()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Service = Annotated[TaskService, Depends(get_service)]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@router.post("", status_code=201)</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def create_task(</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body: TaskCreate, service: Service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-&gt; TaskRead:</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return service.create(body)</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accent4"/>
                </a:solidFill>
                <a:latin typeface="Courier New" pitchFamily="34" charset="0"/>
                <a:ea typeface="Courier New" pitchFamily="34" charset="-122"/>
                <a:cs typeface="Courier New" pitchFamily="34" charset="-120"/>
              </a:rPr>
              <a:t># app/main.py</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app = FastAPI(title="Task Tracker")</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app.include_router(tasks.router)</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Database models with SQLAlchemy 2.0</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Define tables for users, projects, and tasks in typed Python.</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PostgreSQL running via docker compose</a:t>
            </a:r>
            <a:endParaRPr lang="en-US" sz="1500" dirty="0"/>
          </a:p>
          <a:p>
            <a:pPr marL="342900" indent="-342900">
              <a:spcAft>
                <a:spcPts val="600"/>
              </a:spcAft>
              <a:buSzPct val="100000"/>
              <a:buChar char="•"/>
            </a:pPr>
            <a:r>
              <a:rPr lang="en-US" sz="1500" dirty="0">
                <a:solidFill>
                  <a:schemeClr val="tx1"/>
                </a:solidFill>
              </a:rPr>
              <a:t>DeclarativeBase and typed Mapped[] columns</a:t>
            </a:r>
            <a:endParaRPr lang="en-US" sz="1500" dirty="0"/>
          </a:p>
          <a:p>
            <a:pPr marL="342900" indent="-342900">
              <a:spcAft>
                <a:spcPts val="600"/>
              </a:spcAft>
              <a:buSzPct val="100000"/>
              <a:buChar char="•"/>
            </a:pPr>
            <a:r>
              <a:rPr lang="en-US" sz="1500" dirty="0">
                <a:solidFill>
                  <a:schemeClr val="tx1"/>
                </a:solidFill>
              </a:rPr>
              <a:t>Relationships with ForeignKey</a:t>
            </a:r>
            <a:endParaRPr lang="en-US" sz="1500" dirty="0"/>
          </a:p>
          <a:p>
            <a:pPr marL="342900" indent="-342900">
              <a:spcAft>
                <a:spcPts val="600"/>
              </a:spcAft>
              <a:buSzPct val="100000"/>
              <a:buChar char="•"/>
            </a:pPr>
            <a:r>
              <a:rPr lang="en-US" sz="1500" dirty="0">
                <a:solidFill>
                  <a:schemeClr val="tx1"/>
                </a:solidFill>
              </a:rPr>
              <a:t>One session per request via a yield dependency</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Start Postgres with docker compose up db; define User, Project, and Task models.</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Models match the spec; get_db dependency is ready.</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150" dirty="0">
                <a:solidFill>
                  <a:schemeClr val="accent4"/>
                </a:solidFill>
                <a:latin typeface="Courier New" pitchFamily="34" charset="0"/>
                <a:ea typeface="Courier New" pitchFamily="34" charset="-122"/>
                <a:cs typeface="Courier New" pitchFamily="34" charset="-120"/>
              </a:rPr>
              <a:t># app/db.py  (imports omitted)</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class Base(DeclarativeBase):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pass</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engine = create_engine(DATABASE_URL)</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SessionLocal = sessionmaker(engine)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def get_db() -&gt; Iterator[Session]:</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with SessionLocal() as db:</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yield db</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accent4"/>
                </a:solidFill>
                <a:latin typeface="Courier New" pitchFamily="34" charset="0"/>
                <a:ea typeface="Courier New" pitchFamily="34" charset="-122"/>
                <a:cs typeface="Courier New" pitchFamily="34" charset="-120"/>
              </a:rPr>
              <a:t># app/models/task.py</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class Task(Base):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__tablename__ = "tasks"</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id: Mapped[int] = mapped_column(primary_key=True)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title: Mapped[str] = mapped_column(String(200))</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status: Mapped[str] = mapped_column(default="todo")</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priority: Mapped[int]</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project_id: Mapped[int] = mapped_column(</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ForeignKey("projects.id")</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2011680"/>
            <a:ext cx="3657600" cy="365760"/>
          </a:xfrm>
          <a:prstGeom prst="rect">
            <a:avLst/>
          </a:prstGeom>
          <a:noFill/>
          <a:ln/>
        </p:spPr>
        <p:txBody>
          <a:bodyPr wrap="square" lIns="0" tIns="0" rIns="0" bIns="0" rtlCol="0" anchor="ctr"/>
          <a:lstStyle/>
          <a:p>
            <a:pPr indent="0" marL="0">
              <a:buNone/>
            </a:pPr>
            <a:r>
              <a:rPr lang="en-US" sz="1600" b="1" spc="300" kern="0" dirty="0">
                <a:solidFill>
                  <a:schemeClr val="accent2"/>
                </a:solidFill>
              </a:rPr>
              <a:t>WEEK 2</a:t>
            </a:r>
            <a:endParaRPr lang="en-US" sz="1600" dirty="0"/>
          </a:p>
        </p:txBody>
      </p:sp>
      <p:sp>
        <p:nvSpPr>
          <p:cNvPr id="3" name="Text 0"/>
          <p:cNvSpPr/>
          <p:nvPr>
            <p:ph idx="100" type="title" hasCustomPrompt="1"/>
          </p:nvPr>
        </p:nvSpPr>
        <p:spPr>
          <a:xfrm>
            <a:off x="731520" y="2468880"/>
            <a:ext cx="5486400" cy="1005840"/>
          </a:xfrm>
          <a:prstGeom prst="rect">
            <a:avLst/>
          </a:prstGeom>
          <a:noFill/>
          <a:ln/>
        </p:spPr>
        <p:txBody>
          <a:bodyPr wrap="square" lIns="0" tIns="0" rIns="0" bIns="0" rtlCol="0" anchor="t"/>
          <a:lstStyle/>
          <a:p>
            <a:pPr algn="l" indent="0" marL="0">
              <a:buNone/>
            </a:pPr>
            <a:r>
              <a:rPr lang="en-US" sz="4000" b="1" dirty="0">
                <a:solidFill>
                  <a:schemeClr val="bg1"/>
                </a:solidFill>
              </a:rPr>
              <a:t>Data and security</a:t>
            </a:r>
            <a:endParaRPr lang="en-US" sz="4000" dirty="0"/>
          </a:p>
        </p:txBody>
      </p:sp>
      <p:sp>
        <p:nvSpPr>
          <p:cNvPr id="4" name="Text 0"/>
          <p:cNvSpPr/>
          <p:nvPr>
            <p:ph idx="101" type="body" hasCustomPrompt="1"/>
          </p:nvPr>
        </p:nvSpPr>
        <p:spPr>
          <a:xfrm>
            <a:off x="731520" y="3566160"/>
            <a:ext cx="4937760" cy="1280160"/>
          </a:xfrm>
          <a:prstGeom prst="rect">
            <a:avLst/>
          </a:prstGeom>
          <a:noFill/>
          <a:ln/>
        </p:spPr>
        <p:txBody>
          <a:bodyPr wrap="square" lIns="0" tIns="0" rIns="0" bIns="0" rtlCol="0" anchor="t"/>
          <a:lstStyle/>
          <a:p>
            <a:pPr indent="0" marL="0">
              <a:buNone/>
            </a:pPr>
            <a:r>
              <a:rPr lang="en-US" sz="1800" dirty="0">
                <a:solidFill>
                  <a:schemeClr val="accent5"/>
                </a:solidFill>
              </a:rPr>
              <a:t>Migrations, real CRUD, errors, and who can do what.</a:t>
            </a:r>
            <a:endParaRPr lang="en-US" sz="1800" dirty="0"/>
          </a:p>
        </p:txBody>
      </p:sp>
      <p:sp>
        <p:nvSpPr>
          <p:cNvPr id="5" name="Text 3"/>
          <p:cNvSpPr txBox="1"/>
          <p:nvPr/>
        </p:nvSpPr>
        <p:spPr>
          <a:xfrm>
            <a:off x="731520" y="5120640"/>
            <a:ext cx="4937760" cy="822960"/>
          </a:xfrm>
          <a:prstGeom prst="rect">
            <a:avLst/>
          </a:prstGeom>
          <a:noFill/>
          <a:ln/>
        </p:spPr>
        <p:txBody>
          <a:bodyPr wrap="square" lIns="0" tIns="0" rIns="0" bIns="0" rtlCol="0" anchor="t"/>
          <a:lstStyle/>
          <a:p>
            <a:pPr indent="0" marL="0">
              <a:buNone/>
            </a:pPr>
            <a:r>
              <a:rPr lang="en-US" sz="1600" i="1" dirty="0">
                <a:solidFill>
                  <a:schemeClr val="accent4"/>
                </a:solidFill>
              </a:rPr>
              <a:t>By Day 10: a persistent, secured API where users see only their own data.</a:t>
            </a:r>
            <a:endParaRPr lang="en-US" sz="1600" dirty="0"/>
          </a:p>
        </p:txBody>
      </p:sp>
      <p:sp>
        <p:nvSpPr>
          <p:cNvPr id="6" name="Shape 4"/>
          <p:cNvSpPr/>
          <p:nvPr/>
        </p:nvSpPr>
        <p:spPr>
          <a:xfrm>
            <a:off x="6583680" y="1097280"/>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6583680" y="10972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8" name="Text 6"/>
          <p:cNvSpPr txBox="1"/>
          <p:nvPr/>
        </p:nvSpPr>
        <p:spPr>
          <a:xfrm>
            <a:off x="7452360" y="109728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Migrations with Alembic</a:t>
            </a:r>
            <a:endParaRPr lang="en-US" sz="1700" dirty="0"/>
          </a:p>
        </p:txBody>
      </p:sp>
      <p:sp>
        <p:nvSpPr>
          <p:cNvPr id="9" name="Shape 7"/>
          <p:cNvSpPr/>
          <p:nvPr/>
        </p:nvSpPr>
        <p:spPr>
          <a:xfrm>
            <a:off x="6583680" y="205740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6583680" y="20574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1" name="Text 9"/>
          <p:cNvSpPr txBox="1"/>
          <p:nvPr/>
        </p:nvSpPr>
        <p:spPr>
          <a:xfrm>
            <a:off x="7452360" y="205740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CRUD on the database + mid-point demo</a:t>
            </a:r>
            <a:endParaRPr lang="en-US" sz="1700" dirty="0"/>
          </a:p>
        </p:txBody>
      </p:sp>
      <p:sp>
        <p:nvSpPr>
          <p:cNvPr id="12" name="Shape 10"/>
          <p:cNvSpPr/>
          <p:nvPr/>
        </p:nvSpPr>
        <p:spPr>
          <a:xfrm>
            <a:off x="6583680" y="301752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6583680" y="3017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4" name="Text 12"/>
          <p:cNvSpPr txBox="1"/>
          <p:nvPr/>
        </p:nvSpPr>
        <p:spPr>
          <a:xfrm>
            <a:off x="7452360" y="301752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Error handling: fail fast, fail clearly</a:t>
            </a:r>
            <a:endParaRPr lang="en-US" sz="1700" dirty="0"/>
          </a:p>
        </p:txBody>
      </p:sp>
      <p:sp>
        <p:nvSpPr>
          <p:cNvPr id="15" name="Shape 13"/>
          <p:cNvSpPr/>
          <p:nvPr/>
        </p:nvSpPr>
        <p:spPr>
          <a:xfrm>
            <a:off x="6583680" y="397764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6583680" y="39776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9</a:t>
            </a:r>
            <a:endParaRPr lang="en-US" sz="1800" dirty="0"/>
          </a:p>
        </p:txBody>
      </p:sp>
      <p:sp>
        <p:nvSpPr>
          <p:cNvPr id="17" name="Text 15"/>
          <p:cNvSpPr txBox="1"/>
          <p:nvPr/>
        </p:nvSpPr>
        <p:spPr>
          <a:xfrm>
            <a:off x="7452360" y="397764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Authentication with hashed passwords and JWT</a:t>
            </a:r>
            <a:endParaRPr lang="en-US" sz="1700" dirty="0"/>
          </a:p>
        </p:txBody>
      </p:sp>
      <p:sp>
        <p:nvSpPr>
          <p:cNvPr id="18" name="Shape 16"/>
          <p:cNvSpPr/>
          <p:nvPr/>
        </p:nvSpPr>
        <p:spPr>
          <a:xfrm>
            <a:off x="6583680" y="4937760"/>
            <a:ext cx="640080" cy="640080"/>
          </a:xfrm>
          <a:prstGeom prst="ellipse">
            <a:avLst/>
          </a:prstGeom>
          <a:solidFill>
            <a:schemeClr val="accent1"/>
          </a:solidFill>
          <a:ln w="12700">
            <a:solidFill>
              <a:schemeClr val="accent1"/>
            </a:solidFill>
            <a:prstDash val="solid"/>
          </a:ln>
        </p:spPr>
      </p:sp>
      <p:sp>
        <p:nvSpPr>
          <p:cNvPr id="19" name="Text 17"/>
          <p:cNvSpPr txBox="1"/>
          <p:nvPr/>
        </p:nvSpPr>
        <p:spPr>
          <a:xfrm>
            <a:off x="6583680" y="4937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10</a:t>
            </a:r>
            <a:endParaRPr lang="en-US" sz="1800" dirty="0"/>
          </a:p>
        </p:txBody>
      </p:sp>
      <p:sp>
        <p:nvSpPr>
          <p:cNvPr id="20" name="Text 18"/>
          <p:cNvSpPr txBox="1"/>
          <p:nvPr/>
        </p:nvSpPr>
        <p:spPr>
          <a:xfrm>
            <a:off x="7452360" y="493776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Authorization: users see only their own data</a:t>
            </a:r>
            <a:endParaRPr lang="en-US" sz="17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Migrations with Alembic</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The database schema is versioned in Git, just like code.</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Why migrations instead of create_all()</a:t>
            </a:r>
            <a:endParaRPr lang="en-US" sz="1500" dirty="0"/>
          </a:p>
          <a:p>
            <a:pPr marL="342900" indent="-342900">
              <a:spcAft>
                <a:spcPts val="600"/>
              </a:spcAft>
              <a:buSzPct val="100000"/>
              <a:buChar char="•"/>
            </a:pPr>
            <a:r>
              <a:rPr lang="en-US" sz="1500" dirty="0">
                <a:solidFill>
                  <a:schemeClr val="tx1"/>
                </a:solidFill>
              </a:rPr>
              <a:t>alembic init and wiring env.py</a:t>
            </a:r>
            <a:endParaRPr lang="en-US" sz="1500" dirty="0"/>
          </a:p>
          <a:p>
            <a:pPr marL="342900" indent="-342900">
              <a:spcAft>
                <a:spcPts val="600"/>
              </a:spcAft>
              <a:buSzPct val="100000"/>
              <a:buChar char="•"/>
            </a:pPr>
            <a:r>
              <a:rPr lang="en-US" sz="1500" dirty="0">
                <a:solidFill>
                  <a:schemeClr val="tx1"/>
                </a:solidFill>
              </a:rPr>
              <a:t>--autogenerate, then always read the file</a:t>
            </a:r>
            <a:endParaRPr lang="en-US" sz="1500" dirty="0"/>
          </a:p>
          <a:p>
            <a:pPr marL="342900" indent="-342900">
              <a:spcAft>
                <a:spcPts val="600"/>
              </a:spcAft>
              <a:buSzPct val="100000"/>
              <a:buChar char="•"/>
            </a:pPr>
            <a:r>
              <a:rPr lang="en-US" sz="1500" dirty="0">
                <a:solidFill>
                  <a:schemeClr val="tx1"/>
                </a:solidFill>
              </a:rPr>
              <a:t>upgrade head and downgrade -1</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Generate and apply the first migration; inspect the tables with psql.</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migrations/versions holds the initial schema; tables exist in Postgres.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350" dirty="0">
                <a:solidFill>
                  <a:schemeClr val="accent4"/>
                </a:solidFill>
                <a:latin typeface="Courier New" pitchFamily="34" charset="0"/>
                <a:ea typeface="Courier New" pitchFamily="34" charset="-122"/>
                <a:cs typeface="Courier New" pitchFamily="34" charset="-120"/>
              </a:rPr>
              <a:t># terminal</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uv add alembic</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uv run alembic init migrations</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chemeClr val="accent4"/>
                </a:solidFill>
                <a:latin typeface="Courier New" pitchFamily="34" charset="0"/>
                <a:ea typeface="Courier New" pitchFamily="34" charset="-122"/>
                <a:cs typeface="Courier New" pitchFamily="34" charset="-120"/>
              </a:rPr>
              <a:t># migrations/env.py</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from app.db import Base, DATABASE_URL</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import app.models  # registers every model</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target_metadata = Base.metadata</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config.set_main_option(</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    "sqlalchemy.url", DATABASE_URL</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chemeClr val="accent4"/>
                </a:solidFill>
                <a:latin typeface="Courier New" pitchFamily="34" charset="0"/>
                <a:ea typeface="Courier New" pitchFamily="34" charset="-122"/>
                <a:cs typeface="Courier New" pitchFamily="34" charset="-120"/>
              </a:rPr>
              <a:t># every schema change: same two steps</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uv run alembic revision --autogenerate -m "init"</a:t>
            </a:r>
            <a:endParaRPr lang="en-US" sz="1350" dirty="0"/>
          </a:p>
          <a:p>
            <a:pPr indent="0" marL="0">
              <a:lnSpc>
                <a:spcPct val="100000"/>
              </a:lnSpc>
              <a:buNone/>
            </a:pPr>
            <a:r>
              <a:rPr lang="en-US" sz="1350" dirty="0">
                <a:solidFill>
                  <a:schemeClr val="bg2"/>
                </a:solidFill>
                <a:latin typeface="Courier New" pitchFamily="34" charset="0"/>
                <a:ea typeface="Courier New" pitchFamily="34" charset="-122"/>
                <a:cs typeface="Courier New" pitchFamily="34" charset="-120"/>
              </a:rPr>
              <a:t>uv run alembic upgrade head</a:t>
            </a:r>
            <a:endParaRPr lang="en-US" sz="13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7</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CRUD on the database + mid-point demo</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Projects and tasks are created, read, updated, and deleted for real.</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Service receives the session through Depends</a:t>
            </a:r>
            <a:endParaRPr lang="en-US" sz="1500" dirty="0"/>
          </a:p>
          <a:p>
            <a:pPr marL="342900" indent="-342900">
              <a:spcAft>
                <a:spcPts val="600"/>
              </a:spcAft>
              <a:buSzPct val="100000"/>
              <a:buChar char="•"/>
            </a:pPr>
            <a:r>
              <a:rPr lang="en-US" sz="1500" dirty="0">
                <a:solidFill>
                  <a:schemeClr val="tx1"/>
                </a:solidFill>
              </a:rPr>
              <a:t>select() + scalars() for queries</a:t>
            </a:r>
            <a:endParaRPr lang="en-US" sz="1500" dirty="0"/>
          </a:p>
          <a:p>
            <a:pPr marL="342900" indent="-342900">
              <a:spcAft>
                <a:spcPts val="600"/>
              </a:spcAft>
              <a:buSzPct val="100000"/>
              <a:buChar char="•"/>
            </a:pPr>
            <a:r>
              <a:rPr lang="en-US" sz="1500" dirty="0">
                <a:solidFill>
                  <a:schemeClr val="tx1"/>
                </a:solidFill>
              </a:rPr>
              <a:t>model_dump() to build ORM objects</a:t>
            </a:r>
            <a:endParaRPr lang="en-US" sz="1500" dirty="0"/>
          </a:p>
          <a:p>
            <a:pPr marL="342900" indent="-342900">
              <a:spcAft>
                <a:spcPts val="600"/>
              </a:spcAft>
              <a:buSzPct val="100000"/>
              <a:buChar char="•"/>
            </a:pPr>
            <a:r>
              <a:rPr lang="en-US" sz="1500" dirty="0">
                <a:solidFill>
                  <a:schemeClr val="tx1"/>
                </a:solidFill>
              </a:rPr>
              <a:t>from_attributes=True to return ORM objects</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Implement full CRUD for projects and tasks, then each intern demos for 3 minutes.</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All project and task endpoints persist to Postgres.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250" dirty="0">
                <a:solidFill>
                  <a:schemeClr val="accent4"/>
                </a:solidFill>
                <a:latin typeface="Courier New" pitchFamily="34" charset="0"/>
                <a:ea typeface="Courier New" pitchFamily="34" charset="-122"/>
                <a:cs typeface="Courier New" pitchFamily="34" charset="-120"/>
              </a:rPr>
              <a:t># app/services/task_service.py</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class TaskService: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def __init__(self, db: Session):</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self.db = db</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def create(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self, project_id: int, data: TaskCreate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 -&gt; Task:</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task = Task(**data.model_dump(),</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project_id=project_id)</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self.db.add(task)</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self.db.commit()</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self.db.refresh(task)</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return task</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def list(self, project_id: int) -&gt; list[Task]:</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stmt = select(Task).where(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Task.project_id == project_id</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return list(self.db.scalars(stmt))</a:t>
            </a:r>
            <a:endParaRPr lang="en-US" sz="12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8</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Error handling: fail fast, fail clearly</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Every failure returns the right status code and a clear message.</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Services raise domain errors, not HTTP errors</a:t>
            </a:r>
            <a:endParaRPr lang="en-US" sz="1500" dirty="0"/>
          </a:p>
          <a:p>
            <a:pPr marL="342900" indent="-342900">
              <a:spcAft>
                <a:spcPts val="600"/>
              </a:spcAft>
              <a:buSzPct val="100000"/>
              <a:buChar char="•"/>
            </a:pPr>
            <a:r>
              <a:rPr lang="en-US" sz="1500" dirty="0">
                <a:solidFill>
                  <a:schemeClr val="tx1"/>
                </a:solidFill>
              </a:rPr>
              <a:t>One handler maps each error to a status code</a:t>
            </a:r>
            <a:endParaRPr lang="en-US" sz="1500" dirty="0"/>
          </a:p>
          <a:p>
            <a:pPr marL="342900" indent="-342900">
              <a:spcAft>
                <a:spcPts val="600"/>
              </a:spcAft>
              <a:buSzPct val="100000"/>
              <a:buChar char="•"/>
            </a:pPr>
            <a:r>
              <a:rPr lang="en-US" sz="1500" dirty="0">
                <a:solidFill>
                  <a:schemeClr val="tx1"/>
                </a:solidFill>
              </a:rPr>
              <a:t>404 vs 403 vs 409 vs 422</a:t>
            </a:r>
            <a:endParaRPr lang="en-US" sz="1500" dirty="0"/>
          </a:p>
          <a:p>
            <a:pPr marL="342900" indent="-342900">
              <a:spcAft>
                <a:spcPts val="600"/>
              </a:spcAft>
              <a:buSzPct val="100000"/>
              <a:buChar char="•"/>
            </a:pPr>
            <a:r>
              <a:rPr lang="en-US" sz="1500" dirty="0">
                <a:solidFill>
                  <a:schemeClr val="tx1"/>
                </a:solidFill>
              </a:rPr>
              <a:t>Never return 500 for a known case</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Add NotFoundError and ConflictError, register handlers, and fix the Day 2 crash.</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Missing resources return 404 with a consistent JSON body.</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050" dirty="0">
                <a:solidFill>
                  <a:schemeClr val="accent4"/>
                </a:solidFill>
                <a:latin typeface="Courier New" pitchFamily="34" charset="0"/>
                <a:ea typeface="Courier New" pitchFamily="34" charset="-122"/>
                <a:cs typeface="Courier New" pitchFamily="34" charset="-120"/>
              </a:rPr>
              <a:t># app/errors.py</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class NotFoundError(Exception):</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def __init__(self, entity: str, entity_id: int):</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self.entity = entity</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self.entity_id = entity_id</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chemeClr val="accent4"/>
                </a:solidFill>
                <a:latin typeface="Courier New" pitchFamily="34" charset="0"/>
                <a:ea typeface="Courier New" pitchFamily="34" charset="-122"/>
                <a:cs typeface="Courier New" pitchFamily="34" charset="-120"/>
              </a:rPr>
              <a:t># app/services/task_service.py</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def get(self, task_id: int) -&gt; Task:</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task = self.db.get(Task, task_id)</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if task is None:</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raise NotFoundError("Task", task_id)</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return task</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chemeClr val="accent4"/>
                </a:solidFill>
                <a:latin typeface="Courier New" pitchFamily="34" charset="0"/>
                <a:ea typeface="Courier New" pitchFamily="34" charset="-122"/>
                <a:cs typeface="Courier New" pitchFamily="34" charset="-120"/>
              </a:rPr>
              <a:t># app/main.py</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@app.exception_handler(NotFoundError)</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def not_found(request: Request, exc: NotFoundError):</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return JSONResponse(status_code=404, content={</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"detail": f"{exc.entity} {exc.entity_id} not found"</a:t>
            </a:r>
            <a:endParaRPr lang="en-US" sz="1050" dirty="0"/>
          </a:p>
          <a:p>
            <a:pPr indent="0" marL="0">
              <a:lnSpc>
                <a:spcPct val="100000"/>
              </a:lnSpc>
              <a:buNone/>
            </a:pPr>
            <a:r>
              <a:rPr lang="en-US" sz="1050" dirty="0">
                <a:solidFill>
                  <a:schemeClr val="bg2"/>
                </a:solidFill>
                <a:latin typeface="Courier New" pitchFamily="34" charset="0"/>
                <a:ea typeface="Courier New" pitchFamily="34" charset="-122"/>
                <a:cs typeface="Courier New" pitchFamily="34" charset="-120"/>
              </a:rPr>
              <a:t>    })</a:t>
            </a:r>
            <a:endParaRPr lang="en-US" sz="10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9</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Authentication with hashed passwords and JWT</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Users register and log in; passwords are never stored in plain text.</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Hashing with pwdlib (Argon2)</a:t>
            </a:r>
            <a:endParaRPr lang="en-US" sz="1500" dirty="0"/>
          </a:p>
          <a:p>
            <a:pPr marL="342900" indent="-342900">
              <a:spcAft>
                <a:spcPts val="600"/>
              </a:spcAft>
              <a:buSzPct val="100000"/>
              <a:buChar char="•"/>
            </a:pPr>
            <a:r>
              <a:rPr lang="en-US" sz="1500" dirty="0">
                <a:solidFill>
                  <a:schemeClr val="tx1"/>
                </a:solidFill>
              </a:rPr>
              <a:t>JWT: a signed token with sub and exp</a:t>
            </a:r>
            <a:endParaRPr lang="en-US" sz="1500" dirty="0"/>
          </a:p>
          <a:p>
            <a:pPr marL="342900" indent="-342900">
              <a:spcAft>
                <a:spcPts val="600"/>
              </a:spcAft>
              <a:buSzPct val="100000"/>
              <a:buChar char="•"/>
            </a:pPr>
            <a:r>
              <a:rPr lang="en-US" sz="1500" dirty="0">
                <a:solidFill>
                  <a:schemeClr val="tx1"/>
                </a:solidFill>
              </a:rPr>
              <a:t>OAuth2PasswordRequestForm for login</a:t>
            </a:r>
            <a:endParaRPr lang="en-US" sz="1500" dirty="0"/>
          </a:p>
          <a:p>
            <a:pPr marL="342900" indent="-342900">
              <a:spcAft>
                <a:spcPts val="600"/>
              </a:spcAft>
              <a:buSzPct val="100000"/>
              <a:buChar char="•"/>
            </a:pPr>
            <a:r>
              <a:rPr lang="en-US" sz="1500" dirty="0">
                <a:solidFill>
                  <a:schemeClr val="tx1"/>
                </a:solidFill>
              </a:rPr>
              <a:t>Login errors never reveal which field was wrong</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Build POST /auth/register and POST /auth/login that returns an access token.</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Login works from the Authorize button in /docs.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200" dirty="0">
                <a:solidFill>
                  <a:schemeClr val="accent4"/>
                </a:solidFill>
                <a:latin typeface="Courier New" pitchFamily="34" charset="0"/>
                <a:ea typeface="Courier New" pitchFamily="34" charset="-122"/>
                <a:cs typeface="Courier New" pitchFamily="34" charset="-120"/>
              </a:rPr>
              <a:t># app/security.py</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datetime import UTC, datetime, timedelta</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import jwt</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pwdlib import PasswordHash</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password_hash = PasswordHash.recommended()</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def hash_password(raw: str) -&gt; str:</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return password_hash.hash(raw)</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def verify_password(raw: str, hashed: str) -&gt; bool:</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return password_hash.verify(raw, hashed)</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def create_token(user_id: int) -&gt; str:</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expire = datetime.now(UTC) + timedelta(minutes=30)</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payload = {"sub": str(user_id), "exp": expire}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return jwt.encode(payload, SECRET_KEY, "HS256")</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10</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Authorization: users see only their own data</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Every endpoint knows who is calling and what they may touch.</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OAuth2PasswordBearer extracts the token</a:t>
            </a:r>
            <a:endParaRPr lang="en-US" sz="1500" dirty="0"/>
          </a:p>
          <a:p>
            <a:pPr marL="342900" indent="-342900">
              <a:spcAft>
                <a:spcPts val="600"/>
              </a:spcAft>
              <a:buSzPct val="100000"/>
              <a:buChar char="•"/>
            </a:pPr>
            <a:r>
              <a:rPr lang="en-US" sz="1500" dirty="0">
                <a:solidFill>
                  <a:schemeClr val="tx1"/>
                </a:solidFill>
              </a:rPr>
              <a:t>get_current_user as a reusable dependency</a:t>
            </a:r>
            <a:endParaRPr lang="en-US" sz="1500" dirty="0"/>
          </a:p>
          <a:p>
            <a:pPr marL="342900" indent="-342900">
              <a:spcAft>
                <a:spcPts val="600"/>
              </a:spcAft>
              <a:buSzPct val="100000"/>
              <a:buChar char="•"/>
            </a:pPr>
            <a:r>
              <a:rPr lang="en-US" sz="1500" dirty="0">
                <a:solidFill>
                  <a:schemeClr val="tx1"/>
                </a:solidFill>
              </a:rPr>
              <a:t>Ownership checks live in services</a:t>
            </a:r>
            <a:endParaRPr lang="en-US" sz="1500" dirty="0"/>
          </a:p>
          <a:p>
            <a:pPr marL="342900" indent="-342900">
              <a:spcAft>
                <a:spcPts val="600"/>
              </a:spcAft>
              <a:buSzPct val="100000"/>
              <a:buChar char="•"/>
            </a:pPr>
            <a:r>
              <a:rPr lang="en-US" sz="1500" dirty="0">
                <a:solidFill>
                  <a:schemeClr val="tx1"/>
                </a:solidFill>
              </a:rPr>
              <a:t>Return 404, not 403, for other users' data</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Protect every project and task route and filter all queries by owner.</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User A cannot read or change User B's projects or tasks.</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oauth2 = OAuth2PasswordBearer(tokenUrl="/auth/login")</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Token = Annotated[str, Depends(oauth2)]</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def get_current_user(token: Token, db: DB) -&gt; User:</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try:</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payload = jwt.decode(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token, SECRET_KEY, algorithms=["HS256"]</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except jwt.InvalidTokenError:</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raise HTTPException(401, "Invalid token")</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user = db.get(User, int(payload["sub"]))</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if user is None: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raise HTTPException(401, "Invalid token")</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return user</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CurrentUser = Annotated[User, Depends(get_current_user)]</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@router.get("/projects")</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def my_projects(</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user: CurrentUser, service: Service</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-&gt; list[ProjectRead]:</a:t>
            </a:r>
            <a:endParaRPr lang="en-US" sz="1150" dirty="0"/>
          </a:p>
          <a:p>
            <a:pPr indent="0" marL="0">
              <a:lnSpc>
                <a:spcPct val="100000"/>
              </a:lnSpc>
              <a:buNone/>
            </a:pPr>
            <a:r>
              <a:rPr lang="en-US" sz="1150" dirty="0">
                <a:solidFill>
                  <a:schemeClr val="bg2"/>
                </a:solidFill>
                <a:latin typeface="Courier New" pitchFamily="34" charset="0"/>
                <a:ea typeface="Courier New" pitchFamily="34" charset="-122"/>
                <a:cs typeface="Courier New" pitchFamily="34" charset="-120"/>
              </a:rPr>
              <a:t>    return service.list_for_owner(user.id)</a:t>
            </a:r>
            <a:endParaRPr lang="en-US" sz="11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2011680"/>
            <a:ext cx="3657600" cy="365760"/>
          </a:xfrm>
          <a:prstGeom prst="rect">
            <a:avLst/>
          </a:prstGeom>
          <a:noFill/>
          <a:ln/>
        </p:spPr>
        <p:txBody>
          <a:bodyPr wrap="square" lIns="0" tIns="0" rIns="0" bIns="0" rtlCol="0" anchor="ctr"/>
          <a:lstStyle/>
          <a:p>
            <a:pPr indent="0" marL="0">
              <a:buNone/>
            </a:pPr>
            <a:r>
              <a:rPr lang="en-US" sz="1600" b="1" spc="300" kern="0" dirty="0">
                <a:solidFill>
                  <a:schemeClr val="accent2"/>
                </a:solidFill>
              </a:rPr>
              <a:t>WEEK 3</a:t>
            </a:r>
            <a:endParaRPr lang="en-US" sz="1600" dirty="0"/>
          </a:p>
        </p:txBody>
      </p:sp>
      <p:sp>
        <p:nvSpPr>
          <p:cNvPr id="3" name="Text 0"/>
          <p:cNvSpPr/>
          <p:nvPr>
            <p:ph idx="100" type="title" hasCustomPrompt="1"/>
          </p:nvPr>
        </p:nvSpPr>
        <p:spPr>
          <a:xfrm>
            <a:off x="731520" y="2468880"/>
            <a:ext cx="5486400" cy="1005840"/>
          </a:xfrm>
          <a:prstGeom prst="rect">
            <a:avLst/>
          </a:prstGeom>
          <a:noFill/>
          <a:ln/>
        </p:spPr>
        <p:txBody>
          <a:bodyPr wrap="square" lIns="0" tIns="0" rIns="0" bIns="0" rtlCol="0" anchor="t"/>
          <a:lstStyle/>
          <a:p>
            <a:pPr algn="l" indent="0" marL="0">
              <a:buNone/>
            </a:pPr>
            <a:r>
              <a:rPr lang="en-US" sz="4000" b="1" dirty="0">
                <a:solidFill>
                  <a:schemeClr val="bg1"/>
                </a:solidFill>
              </a:rPr>
              <a:t>Quality and shipping</a:t>
            </a:r>
            <a:endParaRPr lang="en-US" sz="4000" dirty="0"/>
          </a:p>
        </p:txBody>
      </p:sp>
      <p:sp>
        <p:nvSpPr>
          <p:cNvPr id="4" name="Text 0"/>
          <p:cNvSpPr/>
          <p:nvPr>
            <p:ph idx="101" type="body" hasCustomPrompt="1"/>
          </p:nvPr>
        </p:nvSpPr>
        <p:spPr>
          <a:xfrm>
            <a:off x="731520" y="3566160"/>
            <a:ext cx="4937760" cy="1280160"/>
          </a:xfrm>
          <a:prstGeom prst="rect">
            <a:avLst/>
          </a:prstGeom>
          <a:noFill/>
          <a:ln/>
        </p:spPr>
        <p:txBody>
          <a:bodyPr wrap="square" lIns="0" tIns="0" rIns="0" bIns="0" rtlCol="0" anchor="t"/>
          <a:lstStyle/>
          <a:p>
            <a:pPr indent="0" marL="0">
              <a:buNone/>
            </a:pPr>
            <a:r>
              <a:rPr lang="en-US" sz="1800" dirty="0">
                <a:solidFill>
                  <a:schemeClr val="accent5"/>
                </a:solidFill>
              </a:rPr>
              <a:t>Tests, real-world features, config, Docker, and the demo.</a:t>
            </a:r>
            <a:endParaRPr lang="en-US" sz="1800" dirty="0"/>
          </a:p>
        </p:txBody>
      </p:sp>
      <p:sp>
        <p:nvSpPr>
          <p:cNvPr id="5" name="Text 3"/>
          <p:cNvSpPr txBox="1"/>
          <p:nvPr/>
        </p:nvSpPr>
        <p:spPr>
          <a:xfrm>
            <a:off x="731520" y="5120640"/>
            <a:ext cx="4937760" cy="822960"/>
          </a:xfrm>
          <a:prstGeom prst="rect">
            <a:avLst/>
          </a:prstGeom>
          <a:noFill/>
          <a:ln/>
        </p:spPr>
        <p:txBody>
          <a:bodyPr wrap="square" lIns="0" tIns="0" rIns="0" bIns="0" rtlCol="0" anchor="t"/>
          <a:lstStyle/>
          <a:p>
            <a:pPr indent="0" marL="0">
              <a:buNone/>
            </a:pPr>
            <a:r>
              <a:rPr lang="en-US" sz="1600" i="1" dirty="0">
                <a:solidFill>
                  <a:schemeClr val="accent4"/>
                </a:solidFill>
              </a:rPr>
              <a:t>By Day 15: a tested, containerized API every intern can demo.</a:t>
            </a:r>
            <a:endParaRPr lang="en-US" sz="1600" dirty="0"/>
          </a:p>
        </p:txBody>
      </p:sp>
      <p:sp>
        <p:nvSpPr>
          <p:cNvPr id="6" name="Shape 4"/>
          <p:cNvSpPr/>
          <p:nvPr/>
        </p:nvSpPr>
        <p:spPr>
          <a:xfrm>
            <a:off x="6583680" y="1097280"/>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6583680" y="10972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11</a:t>
            </a:r>
            <a:endParaRPr lang="en-US" sz="1800" dirty="0"/>
          </a:p>
        </p:txBody>
      </p:sp>
      <p:sp>
        <p:nvSpPr>
          <p:cNvPr id="8" name="Text 6"/>
          <p:cNvSpPr txBox="1"/>
          <p:nvPr/>
        </p:nvSpPr>
        <p:spPr>
          <a:xfrm>
            <a:off x="7452360" y="109728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Testing with pytest</a:t>
            </a:r>
            <a:endParaRPr lang="en-US" sz="1700" dirty="0"/>
          </a:p>
        </p:txBody>
      </p:sp>
      <p:sp>
        <p:nvSpPr>
          <p:cNvPr id="9" name="Shape 7"/>
          <p:cNvSpPr/>
          <p:nvPr/>
        </p:nvSpPr>
        <p:spPr>
          <a:xfrm>
            <a:off x="6583680" y="205740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6583680" y="20574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12</a:t>
            </a:r>
            <a:endParaRPr lang="en-US" sz="1800" dirty="0"/>
          </a:p>
        </p:txBody>
      </p:sp>
      <p:sp>
        <p:nvSpPr>
          <p:cNvPr id="11" name="Text 9"/>
          <p:cNvSpPr txBox="1"/>
          <p:nvPr/>
        </p:nvSpPr>
        <p:spPr>
          <a:xfrm>
            <a:off x="7452360" y="205740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Filtering, pagination, and background tasks</a:t>
            </a:r>
            <a:endParaRPr lang="en-US" sz="1700" dirty="0"/>
          </a:p>
        </p:txBody>
      </p:sp>
      <p:sp>
        <p:nvSpPr>
          <p:cNvPr id="12" name="Shape 10"/>
          <p:cNvSpPr/>
          <p:nvPr/>
        </p:nvSpPr>
        <p:spPr>
          <a:xfrm>
            <a:off x="6583680" y="301752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6583680" y="30175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13</a:t>
            </a:r>
            <a:endParaRPr lang="en-US" sz="1800" dirty="0"/>
          </a:p>
        </p:txBody>
      </p:sp>
      <p:sp>
        <p:nvSpPr>
          <p:cNvPr id="14" name="Text 12"/>
          <p:cNvSpPr txBox="1"/>
          <p:nvPr/>
        </p:nvSpPr>
        <p:spPr>
          <a:xfrm>
            <a:off x="7452360" y="301752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Configuration and logging</a:t>
            </a:r>
            <a:endParaRPr lang="en-US" sz="1700" dirty="0"/>
          </a:p>
        </p:txBody>
      </p:sp>
      <p:sp>
        <p:nvSpPr>
          <p:cNvPr id="15" name="Shape 13"/>
          <p:cNvSpPr/>
          <p:nvPr/>
        </p:nvSpPr>
        <p:spPr>
          <a:xfrm>
            <a:off x="6583680" y="397764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6583680" y="39776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14</a:t>
            </a:r>
            <a:endParaRPr lang="en-US" sz="1800" dirty="0"/>
          </a:p>
        </p:txBody>
      </p:sp>
      <p:sp>
        <p:nvSpPr>
          <p:cNvPr id="17" name="Text 15"/>
          <p:cNvSpPr txBox="1"/>
          <p:nvPr/>
        </p:nvSpPr>
        <p:spPr>
          <a:xfrm>
            <a:off x="7452360" y="397764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Containerize with Docker</a:t>
            </a:r>
            <a:endParaRPr lang="en-US" sz="1700" dirty="0"/>
          </a:p>
        </p:txBody>
      </p:sp>
      <p:sp>
        <p:nvSpPr>
          <p:cNvPr id="18" name="Shape 16"/>
          <p:cNvSpPr/>
          <p:nvPr/>
        </p:nvSpPr>
        <p:spPr>
          <a:xfrm>
            <a:off x="6583680" y="4937760"/>
            <a:ext cx="640080" cy="640080"/>
          </a:xfrm>
          <a:prstGeom prst="ellipse">
            <a:avLst/>
          </a:prstGeom>
          <a:solidFill>
            <a:schemeClr val="accent1"/>
          </a:solidFill>
          <a:ln w="12700">
            <a:solidFill>
              <a:schemeClr val="accent1"/>
            </a:solidFill>
            <a:prstDash val="solid"/>
          </a:ln>
        </p:spPr>
      </p:sp>
      <p:sp>
        <p:nvSpPr>
          <p:cNvPr id="19" name="Text 17"/>
          <p:cNvSpPr txBox="1"/>
          <p:nvPr/>
        </p:nvSpPr>
        <p:spPr>
          <a:xfrm>
            <a:off x="6583680" y="4937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15</a:t>
            </a:r>
            <a:endParaRPr lang="en-US" sz="1800" dirty="0"/>
          </a:p>
        </p:txBody>
      </p:sp>
      <p:sp>
        <p:nvSpPr>
          <p:cNvPr id="20" name="Text 18"/>
          <p:cNvSpPr txBox="1"/>
          <p:nvPr/>
        </p:nvSpPr>
        <p:spPr>
          <a:xfrm>
            <a:off x="7452360" y="4937760"/>
            <a:ext cx="4206240" cy="640080"/>
          </a:xfrm>
          <a:prstGeom prst="rect">
            <a:avLst/>
          </a:prstGeom>
          <a:noFill/>
          <a:ln/>
        </p:spPr>
        <p:txBody>
          <a:bodyPr wrap="square" lIns="0" tIns="0" rIns="0" bIns="0" rtlCol="0" anchor="ctr"/>
          <a:lstStyle/>
          <a:p>
            <a:pPr indent="0" marL="0">
              <a:buNone/>
            </a:pPr>
            <a:r>
              <a:rPr lang="en-US" sz="1700" b="1" dirty="0">
                <a:solidFill>
                  <a:schemeClr val="bg1"/>
                </a:solidFill>
              </a:rPr>
              <a:t>Final demo and retrospective</a:t>
            </a:r>
            <a:endParaRPr lang="en-US" sz="17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11</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Testing with pytest</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Every feature has a test that proves it works.</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TestClient calls the app without a server</a:t>
            </a:r>
            <a:endParaRPr lang="en-US" sz="1500" dirty="0"/>
          </a:p>
          <a:p>
            <a:pPr marL="342900" indent="-342900">
              <a:spcAft>
                <a:spcPts val="600"/>
              </a:spcAft>
              <a:buSzPct val="100000"/>
              <a:buChar char="•"/>
            </a:pPr>
            <a:r>
              <a:rPr lang="en-US" sz="1500" dirty="0">
                <a:solidFill>
                  <a:schemeClr val="tx1"/>
                </a:solidFill>
              </a:rPr>
              <a:t>Separate test database, reset per test</a:t>
            </a:r>
            <a:endParaRPr lang="en-US" sz="1500" dirty="0"/>
          </a:p>
          <a:p>
            <a:pPr marL="342900" indent="-342900">
              <a:spcAft>
                <a:spcPts val="600"/>
              </a:spcAft>
              <a:buSzPct val="100000"/>
              <a:buChar char="•"/>
            </a:pPr>
            <a:r>
              <a:rPr lang="en-US" sz="1500" dirty="0">
                <a:solidFill>
                  <a:schemeClr val="tx1"/>
                </a:solidFill>
              </a:rPr>
              <a:t>dependency_overrides swaps the session</a:t>
            </a:r>
            <a:endParaRPr lang="en-US" sz="1500" dirty="0"/>
          </a:p>
          <a:p>
            <a:pPr marL="342900" indent="-342900">
              <a:spcAft>
                <a:spcPts val="600"/>
              </a:spcAft>
              <a:buSzPct val="100000"/>
              <a:buChar char="•"/>
            </a:pPr>
            <a:r>
              <a:rPr lang="en-US" sz="1500" dirty="0">
                <a:solidFill>
                  <a:schemeClr val="tx1"/>
                </a:solidFill>
              </a:rPr>
              <a:t>Test the unhappy paths: 401, 404, 422</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Write tests for auth, projects, and tasks, and backfill Days 2 to 10.</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uv run pytest passes with at least one test per endpoint.</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100" dirty="0">
                <a:solidFill>
                  <a:schemeClr val="accent4"/>
                </a:solidFill>
                <a:latin typeface="Courier New" pitchFamily="34" charset="0"/>
                <a:ea typeface="Courier New" pitchFamily="34" charset="-122"/>
                <a:cs typeface="Courier New" pitchFamily="34" charset="-120"/>
              </a:rPr>
              <a:t># tests/conftest.py</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@pytest.fixture</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def client(db_session: Session) -&gt; Iterator[TestClient]: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app.dependency_overrides[get_db] = lambda: db_session</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yield TestClient(app)</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app.dependency_overrides.clear()</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accent4"/>
                </a:solidFill>
                <a:latin typeface="Courier New" pitchFamily="34" charset="0"/>
                <a:ea typeface="Courier New" pitchFamily="34" charset="-122"/>
                <a:cs typeface="Courier New" pitchFamily="34" charset="-120"/>
              </a:rPr>
              <a:t># tests/test_tasks.py</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def test_create_task(client, auth_headers, project):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response = client.post(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f"/projects/{project.id}/tasks",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json={"title": "Write tests", "priority": 2},</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headers=auth_headers,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assert response.status_code == 201</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assert response.json()["status"] == "todo"</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def test_short_title(client, auth_headers, project):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response = client.post(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f"/projects/{project.id}/tasks",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json={"title": "ab", "priority": 2},</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headers=auth_headers,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assert response.status_code == 422</a:t>
            </a:r>
            <a:endParaRPr lang="en-US" sz="11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12</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Filtering, pagination, and background tasks</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Lists stay fast and useful as the data grows.</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Optional query parameters as filters</a:t>
            </a:r>
            <a:endParaRPr lang="en-US" sz="1500" dirty="0"/>
          </a:p>
          <a:p>
            <a:pPr marL="342900" indent="-342900">
              <a:spcAft>
                <a:spcPts val="600"/>
              </a:spcAft>
              <a:buSzPct val="100000"/>
              <a:buChar char="•"/>
            </a:pPr>
            <a:r>
              <a:rPr lang="en-US" sz="1500" dirty="0">
                <a:solidFill>
                  <a:schemeClr val="tx1"/>
                </a:solidFill>
              </a:rPr>
              <a:t>limit and offset with Query() bounds</a:t>
            </a:r>
            <a:endParaRPr lang="en-US" sz="1500" dirty="0"/>
          </a:p>
          <a:p>
            <a:pPr marL="342900" indent="-342900">
              <a:spcAft>
                <a:spcPts val="600"/>
              </a:spcAft>
              <a:buSzPct val="100000"/>
              <a:buChar char="•"/>
            </a:pPr>
            <a:r>
              <a:rPr lang="en-US" sz="1500" dirty="0">
                <a:solidFill>
                  <a:schemeClr val="tx1"/>
                </a:solidFill>
              </a:rPr>
              <a:t>Build queries step by step with select()</a:t>
            </a:r>
            <a:endParaRPr lang="en-US" sz="1500" dirty="0"/>
          </a:p>
          <a:p>
            <a:pPr marL="342900" indent="-342900">
              <a:spcAft>
                <a:spcPts val="600"/>
              </a:spcAft>
              <a:buSzPct val="100000"/>
              <a:buChar char="•"/>
            </a:pPr>
            <a:r>
              <a:rPr lang="en-US" sz="1500" dirty="0">
                <a:solidFill>
                  <a:schemeClr val="tx1"/>
                </a:solidFill>
              </a:rPr>
              <a:t>BackgroundTasks for work after the response</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Add status and assignee filters plus pagination; notify on assignment in the background.</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GET /projects/{id}/tasks?status=todo&amp;limit=10 works and is tested.</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@router.get("/projects/{project_id}/tasks")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def list_tasks(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project_id: int,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user: CurrentUser,</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service: Service,</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status: Status | None = None,</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assignee_id: int | None = None,</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limit: Annotated[int, Query(ge=1, le=100)] = 20,</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offset: Annotated[int, Query(ge=0)] = 0,</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-&gt; list[TaskRead]:</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return service.list(project_id, user.id, status,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assignee_id, limit, offset)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@router.post("/tasks/{task_id}/assign")</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def assign_task(</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task_id: int,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body: AssignBody,</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user: CurrentUser,</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service: Service,</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background: BackgroundTasks,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-&gt; TaskRead:</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task = service.assign(task_id, body.user_id, user.id)</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background.add_task(notify_assignee, task.id)</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return task</a:t>
            </a:r>
            <a:endParaRPr lang="en-US" sz="11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13</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Configuration and logging</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No hardcoded secrets, and logs that explain what happened.</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pydantic-settings reads .env into typed Settings</a:t>
            </a:r>
            <a:endParaRPr lang="en-US" sz="1500" dirty="0"/>
          </a:p>
          <a:p>
            <a:pPr marL="342900" indent="-342900">
              <a:spcAft>
                <a:spcPts val="600"/>
              </a:spcAft>
              <a:buSzPct val="100000"/>
              <a:buChar char="•"/>
            </a:pPr>
            <a:r>
              <a:rPr lang="en-US" sz="1500" dirty="0">
                <a:solidFill>
                  <a:schemeClr val="tx1"/>
                </a:solidFill>
              </a:rPr>
              <a:t>Required settings fail fast at startup</a:t>
            </a:r>
            <a:endParaRPr lang="en-US" sz="1500" dirty="0"/>
          </a:p>
          <a:p>
            <a:pPr marL="342900" indent="-342900">
              <a:spcAft>
                <a:spcPts val="600"/>
              </a:spcAft>
              <a:buSzPct val="100000"/>
              <a:buChar char="•"/>
            </a:pPr>
            <a:r>
              <a:rPr lang="en-US" sz="1500" dirty="0">
                <a:solidFill>
                  <a:schemeClr val="tx1"/>
                </a:solidFill>
              </a:rPr>
              <a:t>.env in .gitignore; .env.example committed</a:t>
            </a:r>
            <a:endParaRPr lang="en-US" sz="1500" dirty="0"/>
          </a:p>
          <a:p>
            <a:pPr marL="342900" indent="-342900">
              <a:spcAft>
                <a:spcPts val="600"/>
              </a:spcAft>
              <a:buSzPct val="100000"/>
              <a:buChar char="•"/>
            </a:pPr>
            <a:r>
              <a:rPr lang="en-US" sz="1500" dirty="0">
                <a:solidFill>
                  <a:schemeClr val="tx1"/>
                </a:solidFill>
              </a:rPr>
              <a:t>Log events with context, never passwords or tokens</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Replace the DATABASE_URL and SECRET_KEY constants with Settings and add logs in services.</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The app refuses to start without a complete .env.</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100" dirty="0">
                <a:solidFill>
                  <a:schemeClr val="accent4"/>
                </a:solidFill>
                <a:latin typeface="Courier New" pitchFamily="34" charset="0"/>
                <a:ea typeface="Courier New" pitchFamily="34" charset="-122"/>
                <a:cs typeface="Courier New" pitchFamily="34" charset="-120"/>
              </a:rPr>
              <a:t># app/config.py</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from pydantic_settings import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BaseSettings, SettingsConfigDict,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class Settings(BaseSettings):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model_config = SettingsConfigDict(env_file=".env")</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database_url: str</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secret_key: str</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token_minutes: int = 30</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settings = Settings()  # fails fast if .env is incomplete</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accent4"/>
                </a:solidFill>
                <a:latin typeface="Courier New" pitchFamily="34" charset="0"/>
                <a:ea typeface="Courier New" pitchFamily="34" charset="-122"/>
                <a:cs typeface="Courier New" pitchFamily="34" charset="-120"/>
              </a:rPr>
              <a:t># app/main.py</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logging.basicConfig(</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level=logging.INFO,</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format="%(levelname)s %(name)s: %(message)s",</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chemeClr val="accent4"/>
                </a:solidFill>
                <a:latin typeface="Courier New" pitchFamily="34" charset="0"/>
                <a:ea typeface="Courier New" pitchFamily="34" charset="-122"/>
                <a:cs typeface="Courier New" pitchFamily="34" charset="-120"/>
              </a:rPr>
              <a:t># app/services/task_service.py</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logger = logging.getLogger(__name__)</a:t>
            </a:r>
            <a:endParaRPr lang="en-US" sz="1100" dirty="0"/>
          </a:p>
          <a:p>
            <a:pPr indent="0" marL="0">
              <a:lnSpc>
                <a:spcPct val="100000"/>
              </a:lnSpc>
              <a:buNone/>
            </a:pPr>
            <a:r>
              <a:rPr lang="en-US" sz="1100" dirty="0">
                <a:solidFill>
                  <a:schemeClr val="bg2"/>
                </a:solidFill>
                <a:latin typeface="Courier New" pitchFamily="34" charset="0"/>
                <a:ea typeface="Courier New" pitchFamily="34" charset="-122"/>
                <a:cs typeface="Courier New" pitchFamily="34" charset="-120"/>
              </a:rPr>
              <a:t>logger.info("task created id=%s", task.id)</a:t>
            </a:r>
            <a:endParaRPr lang="en-US" sz="11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14</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Containerize with Docker</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One command runs the whole system on any machine.</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Dockerfile: slim image, uv sync --frozen</a:t>
            </a:r>
            <a:endParaRPr lang="en-US" sz="1500" dirty="0"/>
          </a:p>
          <a:p>
            <a:pPr marL="342900" indent="-342900">
              <a:spcAft>
                <a:spcPts val="600"/>
              </a:spcAft>
              <a:buSzPct val="100000"/>
              <a:buChar char="•"/>
            </a:pPr>
            <a:r>
              <a:rPr lang="en-US" sz="1500" dirty="0">
                <a:solidFill>
                  <a:schemeClr val="tx1"/>
                </a:solidFill>
              </a:rPr>
              <a:t>Compose: api and db services</a:t>
            </a:r>
            <a:endParaRPr lang="en-US" sz="1500" dirty="0"/>
          </a:p>
          <a:p>
            <a:pPr marL="342900" indent="-342900">
              <a:spcAft>
                <a:spcPts val="600"/>
              </a:spcAft>
              <a:buSzPct val="100000"/>
              <a:buChar char="•"/>
            </a:pPr>
            <a:r>
              <a:rPr lang="en-US" sz="1500" dirty="0">
                <a:solidFill>
                  <a:schemeClr val="tx1"/>
                </a:solidFill>
              </a:rPr>
              <a:t>Migrations run before the app starts</a:t>
            </a:r>
            <a:endParaRPr lang="en-US" sz="1500" dirty="0"/>
          </a:p>
          <a:p>
            <a:pPr marL="342900" indent="-342900">
              <a:spcAft>
                <a:spcPts val="600"/>
              </a:spcAft>
              <a:buSzPct val="100000"/>
              <a:buChar char="•"/>
            </a:pPr>
            <a:r>
              <a:rPr lang="en-US" sz="1500" dirty="0">
                <a:solidFill>
                  <a:schemeClr val="tx1"/>
                </a:solidFill>
              </a:rPr>
              <a:t>Secrets come from env_file, never the image</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Write the Dockerfile and compose file, then open /docs served from the container.</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docker compose up serves the API on port 8000 with migrations applied.</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200" dirty="0">
                <a:solidFill>
                  <a:schemeClr val="accent4"/>
                </a:solidFill>
                <a:latin typeface="Courier New" pitchFamily="34" charset="0"/>
                <a:ea typeface="Courier New" pitchFamily="34" charset="-122"/>
                <a:cs typeface="Courier New" pitchFamily="34" charset="-120"/>
              </a:rPr>
              <a:t># Dockerfile</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FROM python:3.12-slim</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COPY --from=ghcr.io/astral-sh/uv:latest /uv /bin/uv</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WORKDIR /app</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COPY pyproject.toml uv.lock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RUN uv sync --frozen --no-dev --no-install-project</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COPY .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ENV PATH="/app/.venv/bin:$PATH"</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CMD alembic upgrade head &amp;&amp; fastapi run app/main.py</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accent4"/>
                </a:solidFill>
                <a:latin typeface="Courier New" pitchFamily="34" charset="0"/>
                <a:ea typeface="Courier New" pitchFamily="34" charset="-122"/>
                <a:cs typeface="Courier New" pitchFamily="34" charset="-120"/>
              </a:rPr>
              <a:t># docker-compose.yml</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services:</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db:</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image: postgres:16</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env_file: .env</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healthcheck:</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test: ["CMD", "pg_isready", "-U", "app"]</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interval: 2s</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api:</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build: .</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env_file: .env</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ports: ["8000:8000"]</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depends_on:</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db:</a:t>
            </a:r>
            <a:endParaRPr lang="en-US" sz="1200" dirty="0"/>
          </a:p>
          <a:p>
            <a:pPr indent="0" marL="0">
              <a:lnSpc>
                <a:spcPct val="100000"/>
              </a:lnSpc>
              <a:buNone/>
            </a:pPr>
            <a:r>
              <a:rPr lang="en-US" sz="1200" dirty="0">
                <a:solidFill>
                  <a:schemeClr val="bg2"/>
                </a:solidFill>
                <a:latin typeface="Courier New" pitchFamily="34" charset="0"/>
                <a:ea typeface="Courier New" pitchFamily="34" charset="-122"/>
                <a:cs typeface="Courier New" pitchFamily="34" charset="-120"/>
              </a:rPr>
              <a:t>        condition: service_healthy</a:t>
            </a:r>
            <a:endParaRPr lang="en-US" sz="12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chemeClr val="accent1"/>
          </a:solidFill>
          <a:ln w="12700">
            <a:solidFill>
              <a:schemeClr val="accent1"/>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15</a:t>
            </a:r>
            <a:endParaRPr lang="en-US" sz="2200" dirty="0"/>
          </a:p>
        </p:txBody>
      </p:sp>
      <p:sp>
        <p:nvSpPr>
          <p:cNvPr id="4" name="Text 0"/>
          <p:cNvSpPr/>
          <p:nvPr>
            <p:ph idx="100" type="title" hasCustomPrompt="1"/>
          </p:nvPr>
        </p:nvSpPr>
        <p:spPr>
          <a:xfrm>
            <a:off x="1463040" y="365760"/>
            <a:ext cx="10149840" cy="777240"/>
          </a:xfrm>
          <a:prstGeom prst="rect">
            <a:avLst/>
          </a:prstGeom>
          <a:noFill/>
          <a:ln/>
        </p:spPr>
        <p:txBody>
          <a:bodyPr wrap="square" lIns="0" tIns="0" rIns="0" bIns="0" rtlCol="0" anchor="ctr"/>
          <a:lstStyle/>
          <a:p>
            <a:pPr algn="l" indent="0" marL="0">
              <a:buNone/>
            </a:pPr>
            <a:r>
              <a:rPr lang="en-US" sz="3200" b="1" dirty="0">
                <a:solidFill>
                  <a:schemeClr val="tx1"/>
                </a:solidFill>
              </a:rPr>
              <a:t>Final demo and retrospective</a:t>
            </a:r>
            <a:endParaRPr lang="en-US" sz="3200" dirty="0"/>
          </a:p>
        </p:txBody>
      </p:sp>
      <p:sp>
        <p:nvSpPr>
          <p:cNvPr id="5" name="Text 3"/>
          <p:cNvSpPr txBox="1"/>
          <p:nvPr/>
        </p:nvSpPr>
        <p:spPr>
          <a:xfrm>
            <a:off x="548640" y="1280160"/>
            <a:ext cx="5440680" cy="548640"/>
          </a:xfrm>
          <a:prstGeom prst="rect">
            <a:avLst/>
          </a:prstGeom>
          <a:noFill/>
          <a:ln/>
        </p:spPr>
        <p:txBody>
          <a:bodyPr wrap="square" lIns="0" tIns="0" rIns="0" bIns="0" rtlCol="0" anchor="t"/>
          <a:lstStyle/>
          <a:p>
            <a:pPr indent="0" marL="0">
              <a:buNone/>
            </a:pPr>
            <a:r>
              <a:rPr lang="en-US" sz="1700" i="1" dirty="0">
                <a:solidFill>
                  <a:schemeClr val="accent1"/>
                </a:solidFill>
              </a:rPr>
              <a:t>Each intern ships and presents a complete, tested API.</a:t>
            </a:r>
            <a:endParaRPr lang="en-US" sz="1700" dirty="0"/>
          </a:p>
        </p:txBody>
      </p:sp>
      <p:sp>
        <p:nvSpPr>
          <p:cNvPr id="6" name="Text 4"/>
          <p:cNvSpPr txBox="1"/>
          <p:nvPr/>
        </p:nvSpPr>
        <p:spPr>
          <a:xfrm>
            <a:off x="548640" y="196596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KEY CONCEPTS</a:t>
            </a:r>
            <a:endParaRPr lang="en-US" sz="1200" dirty="0"/>
          </a:p>
        </p:txBody>
      </p:sp>
      <p:sp>
        <p:nvSpPr>
          <p:cNvPr id="7" name="Text 5"/>
          <p:cNvSpPr txBox="1"/>
          <p:nvPr/>
        </p:nvSpPr>
        <p:spPr>
          <a:xfrm>
            <a:off x="548640" y="2286000"/>
            <a:ext cx="54406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10-minute demo per intern or pair</a:t>
            </a:r>
            <a:endParaRPr lang="en-US" sz="1500" dirty="0"/>
          </a:p>
          <a:p>
            <a:pPr marL="342900" indent="-342900">
              <a:spcAft>
                <a:spcPts val="600"/>
              </a:spcAft>
              <a:buSzPct val="100000"/>
              <a:buChar char="•"/>
            </a:pPr>
            <a:r>
              <a:rPr lang="en-US" sz="1500" dirty="0">
                <a:solidFill>
                  <a:schemeClr val="tx1"/>
                </a:solidFill>
              </a:rPr>
              <a:t>Live flow: register, log in, create, filter, fail</a:t>
            </a:r>
            <a:endParaRPr lang="en-US" sz="1500" dirty="0"/>
          </a:p>
          <a:p>
            <a:pPr marL="342900" indent="-342900">
              <a:spcAft>
                <a:spcPts val="600"/>
              </a:spcAft>
              <a:buSzPct val="100000"/>
              <a:buChar char="•"/>
            </a:pPr>
            <a:r>
              <a:rPr lang="en-US" sz="1500" dirty="0">
                <a:solidFill>
                  <a:schemeClr val="tx1"/>
                </a:solidFill>
              </a:rPr>
              <a:t>Code walkthrough of one layer they choose</a:t>
            </a:r>
            <a:endParaRPr lang="en-US" sz="1500" dirty="0"/>
          </a:p>
          <a:p>
            <a:pPr marL="342900" indent="-342900">
              <a:spcAft>
                <a:spcPts val="600"/>
              </a:spcAft>
              <a:buSzPct val="100000"/>
              <a:buChar char="•"/>
            </a:pPr>
            <a:r>
              <a:rPr lang="en-US" sz="1500" dirty="0">
                <a:solidFill>
                  <a:schemeClr val="tx1"/>
                </a:solidFill>
              </a:rPr>
              <a:t>Retro: what worked and what to change</a:t>
            </a:r>
            <a:endParaRPr lang="en-US" sz="1500" dirty="0"/>
          </a:p>
        </p:txBody>
      </p:sp>
      <p:sp>
        <p:nvSpPr>
          <p:cNvPr id="8" name="Text 6"/>
          <p:cNvSpPr txBox="1"/>
          <p:nvPr/>
        </p:nvSpPr>
        <p:spPr>
          <a:xfrm>
            <a:off x="548640" y="4206240"/>
            <a:ext cx="5440680" cy="274320"/>
          </a:xfrm>
          <a:prstGeom prst="rect">
            <a:avLst/>
          </a:prstGeom>
          <a:noFill/>
          <a:ln/>
        </p:spPr>
        <p:txBody>
          <a:bodyPr wrap="square" lIns="0" tIns="0" rIns="0" bIns="0" rtlCol="0" anchor="ctr"/>
          <a:lstStyle/>
          <a:p>
            <a:pPr indent="0" marL="0">
              <a:buNone/>
            </a:pPr>
            <a:r>
              <a:rPr lang="en-US" sz="1200" b="1" spc="100" kern="0" dirty="0">
                <a:solidFill>
                  <a:schemeClr val="tx2"/>
                </a:solidFill>
              </a:rPr>
              <a:t>HANDS-ON</a:t>
            </a:r>
            <a:endParaRPr lang="en-US" sz="1200" dirty="0"/>
          </a:p>
        </p:txBody>
      </p:sp>
      <p:sp>
        <p:nvSpPr>
          <p:cNvPr id="9" name="Text 7"/>
          <p:cNvSpPr txBox="1"/>
          <p:nvPr/>
        </p:nvSpPr>
        <p:spPr>
          <a:xfrm>
            <a:off x="548640" y="4498848"/>
            <a:ext cx="5440680" cy="640080"/>
          </a:xfrm>
          <a:prstGeom prst="rect">
            <a:avLst/>
          </a:prstGeom>
          <a:noFill/>
          <a:ln/>
        </p:spPr>
        <p:txBody>
          <a:bodyPr wrap="square" lIns="0" tIns="0" rIns="0" bIns="0" rtlCol="0" anchor="t"/>
          <a:lstStyle/>
          <a:p>
            <a:pPr indent="0" marL="0">
              <a:buNone/>
            </a:pPr>
            <a:r>
              <a:rPr lang="en-US" sz="1500" dirty="0">
                <a:solidFill>
                  <a:schemeClr val="tx1"/>
                </a:solidFill>
              </a:rPr>
              <a:t>Run the demo script from a fresh clone using docker compose up.</a:t>
            </a:r>
            <a:endParaRPr lang="en-US" sz="1500" dirty="0"/>
          </a:p>
        </p:txBody>
      </p:sp>
      <p:sp>
        <p:nvSpPr>
          <p:cNvPr id="10" name="Shape 8"/>
          <p:cNvSpPr/>
          <p:nvPr/>
        </p:nvSpPr>
        <p:spPr>
          <a:xfrm>
            <a:off x="548640" y="5257800"/>
            <a:ext cx="5440680" cy="1005840"/>
          </a:xfrm>
          <a:prstGeom prst="roundRect">
            <a:avLst>
              <a:gd name="adj" fmla="val 10909"/>
            </a:avLst>
          </a:prstGeom>
          <a:solidFill>
            <a:schemeClr val="bg2"/>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749808" y="5458968"/>
            <a:ext cx="292608" cy="292608"/>
          </a:xfrm>
          <a:prstGeom prst="rect">
            <a:avLst/>
          </a:prstGeom>
        </p:spPr>
      </p:pic>
      <p:sp>
        <p:nvSpPr>
          <p:cNvPr id="12" name="Text 9"/>
          <p:cNvSpPr txBox="1"/>
          <p:nvPr/>
        </p:nvSpPr>
        <p:spPr>
          <a:xfrm>
            <a:off x="1188720" y="5458968"/>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DELIVERABLE</a:t>
            </a:r>
            <a:endParaRPr lang="en-US" sz="1200" dirty="0"/>
          </a:p>
        </p:txBody>
      </p:sp>
      <p:sp>
        <p:nvSpPr>
          <p:cNvPr id="13" name="Text 10"/>
          <p:cNvSpPr txBox="1"/>
          <p:nvPr/>
        </p:nvSpPr>
        <p:spPr>
          <a:xfrm>
            <a:off x="1188720" y="5733288"/>
            <a:ext cx="4617720" cy="457200"/>
          </a:xfrm>
          <a:prstGeom prst="rect">
            <a:avLst/>
          </a:prstGeom>
          <a:noFill/>
          <a:ln/>
        </p:spPr>
        <p:txBody>
          <a:bodyPr wrap="square" lIns="0" tIns="0" rIns="0" bIns="0" rtlCol="0" anchor="t"/>
          <a:lstStyle/>
          <a:p>
            <a:pPr indent="0" marL="0">
              <a:buNone/>
            </a:pPr>
            <a:r>
              <a:rPr lang="en-US" sz="1500" b="1" dirty="0">
                <a:solidFill>
                  <a:schemeClr val="tx1"/>
                </a:solidFill>
              </a:rPr>
              <a:t>Final PR merged, demo delivered, and feedback recorded.</a:t>
            </a:r>
            <a:endParaRPr lang="en-US" sz="1500" dirty="0"/>
          </a:p>
        </p:txBody>
      </p:sp>
      <p:sp>
        <p:nvSpPr>
          <p:cNvPr id="14" name="Shape 11"/>
          <p:cNvSpPr/>
          <p:nvPr/>
        </p:nvSpPr>
        <p:spPr>
          <a:xfrm>
            <a:off x="6263640" y="1280160"/>
            <a:ext cx="5394960" cy="4983480"/>
          </a:xfrm>
          <a:prstGeom prst="roundRect">
            <a:avLst>
              <a:gd name="adj" fmla="val 2202"/>
            </a:avLst>
          </a:prstGeom>
          <a:solidFill>
            <a:schemeClr val="tx1"/>
          </a:solidFill>
          <a:ln w="12700">
            <a:solidFill>
              <a:schemeClr val="tx1"/>
            </a:solidFill>
            <a:prstDash val="solid"/>
          </a:ln>
        </p:spPr>
      </p:sp>
      <p:sp>
        <p:nvSpPr>
          <p:cNvPr id="15" name="Text 12"/>
          <p:cNvSpPr txBox="1"/>
          <p:nvPr/>
        </p:nvSpPr>
        <p:spPr>
          <a:xfrm>
            <a:off x="6492240" y="1463040"/>
            <a:ext cx="4983480" cy="4617720"/>
          </a:xfrm>
          <a:prstGeom prst="rect">
            <a:avLst/>
          </a:prstGeom>
          <a:noFill/>
          <a:ln/>
        </p:spPr>
        <p:txBody>
          <a:bodyPr wrap="square" lIns="0" tIns="0" rIns="0" bIns="0" rtlCol="0" anchor="t"/>
          <a:lstStyle/>
          <a:p>
            <a:pPr indent="0" marL="0">
              <a:lnSpc>
                <a:spcPct val="100000"/>
              </a:lnSpc>
              <a:buNone/>
            </a:pPr>
            <a:r>
              <a:rPr lang="en-US" sz="1250" dirty="0">
                <a:solidFill>
                  <a:schemeClr val="accent4"/>
                </a:solidFill>
                <a:latin typeface="Courier New" pitchFamily="34" charset="0"/>
                <a:ea typeface="Courier New" pitchFamily="34" charset="-122"/>
                <a:cs typeface="Courier New" pitchFamily="34" charset="-120"/>
              </a:rPr>
              <a:t># demo script: start from a fresh clone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git clone &lt;repo&gt; &amp;&amp; cd task-tracker</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cp .env.example .env</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docker compose up --build</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chemeClr val="accent4"/>
                </a:solidFill>
                <a:latin typeface="Courier New" pitchFamily="34" charset="0"/>
                <a:ea typeface="Courier New" pitchFamily="34" charset="-122"/>
                <a:cs typeface="Courier New" pitchFamily="34" charset="-120"/>
              </a:rPr>
              <a:t># in /docs</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1. POST /auth/register         -&gt; 201</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2. POST /auth/login            -&gt; token, Authorize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3. POST /projects              -&gt; 201</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4. POST /projects/1/tasks  x3  -&gt; 201</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5. GET  /projects/1/tasks?status=todo&amp;limit=2</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6. GET  /tasks/999             -&gt; 404</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7. Log out, GET /projects      -&gt; 401</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chemeClr val="accent4"/>
                </a:solidFill>
                <a:latin typeface="Courier New" pitchFamily="34" charset="0"/>
                <a:ea typeface="Courier New" pitchFamily="34" charset="-122"/>
                <a:cs typeface="Courier New" pitchFamily="34" charset="-120"/>
              </a:rPr>
              <a:t># quality gate</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uv run ruff check .</a:t>
            </a:r>
            <a:endParaRPr lang="en-US" sz="1250" dirty="0"/>
          </a:p>
          <a:p>
            <a:pPr indent="0" marL="0">
              <a:lnSpc>
                <a:spcPct val="100000"/>
              </a:lnSpc>
              <a:buNone/>
            </a:pPr>
            <a:r>
              <a:rPr lang="en-US" sz="1250" dirty="0">
                <a:solidFill>
                  <a:schemeClr val="bg2"/>
                </a:solidFill>
                <a:latin typeface="Courier New" pitchFamily="34" charset="0"/>
                <a:ea typeface="Courier New" pitchFamily="34" charset="-122"/>
                <a:cs typeface="Courier New" pitchFamily="34" charset="-120"/>
              </a:rPr>
              <a:t>uv run pytest</a:t>
            </a:r>
            <a:endParaRPr lang="en-US" sz="125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15 points for trainers to take care of (1/2)</a:t>
            </a:r>
            <a:endParaRPr lang="en-US" sz="3200" dirty="0"/>
          </a:p>
        </p:txBody>
      </p:sp>
      <p:sp>
        <p:nvSpPr>
          <p:cNvPr id="3" name="Shape 1"/>
          <p:cNvSpPr/>
          <p:nvPr/>
        </p:nvSpPr>
        <p:spPr>
          <a:xfrm>
            <a:off x="548640" y="1325880"/>
            <a:ext cx="5422392" cy="1097280"/>
          </a:xfrm>
          <a:prstGeom prst="roundRect">
            <a:avLst>
              <a:gd name="adj" fmla="val 10000"/>
            </a:avLst>
          </a:prstGeom>
          <a:solidFill>
            <a:schemeClr val="bg2"/>
          </a:solidFill>
          <a:ln w="12700">
            <a:solidFill>
              <a:schemeClr val="bg2"/>
            </a:solidFill>
            <a:prstDash val="solid"/>
          </a:ln>
        </p:spPr>
      </p:sp>
      <p:sp>
        <p:nvSpPr>
          <p:cNvPr id="4" name="Shape 2"/>
          <p:cNvSpPr/>
          <p:nvPr/>
        </p:nvSpPr>
        <p:spPr>
          <a:xfrm>
            <a:off x="777240" y="160020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6" name="Text 4"/>
          <p:cNvSpPr txBox="1"/>
          <p:nvPr/>
        </p:nvSpPr>
        <p:spPr>
          <a:xfrm>
            <a:off x="1554480" y="146304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Setup before Day 1</a:t>
            </a:r>
            <a:endParaRPr lang="en-US" sz="1700" dirty="0"/>
          </a:p>
        </p:txBody>
      </p:sp>
      <p:sp>
        <p:nvSpPr>
          <p:cNvPr id="7" name="Text 5"/>
          <p:cNvSpPr txBox="1"/>
          <p:nvPr/>
        </p:nvSpPr>
        <p:spPr>
          <a:xfrm>
            <a:off x="1554480" y="1828800"/>
            <a:ext cx="4251960" cy="502920"/>
          </a:xfrm>
          <a:prstGeom prst="rect">
            <a:avLst/>
          </a:prstGeom>
          <a:noFill/>
          <a:ln/>
        </p:spPr>
        <p:txBody>
          <a:bodyPr wrap="square" lIns="0" tIns="0" rIns="0" bIns="0" rtlCol="0" anchor="t"/>
          <a:lstStyle/>
          <a:p>
            <a:pPr indent="0" marL="0">
              <a:buNone/>
            </a:pPr>
            <a:r>
              <a:rPr lang="en-US" sz="1400" dirty="0">
                <a:solidFill>
                  <a:schemeClr val="tx2"/>
                </a:solidFill>
              </a:rPr>
              <a:t>Interns finish installs the day before. Setup issues eat whole sessions.</a:t>
            </a:r>
            <a:endParaRPr lang="en-US" sz="1400" dirty="0"/>
          </a:p>
        </p:txBody>
      </p:sp>
      <p:sp>
        <p:nvSpPr>
          <p:cNvPr id="8" name="Shape 6"/>
          <p:cNvSpPr/>
          <p:nvPr/>
        </p:nvSpPr>
        <p:spPr>
          <a:xfrm>
            <a:off x="6236208" y="1325880"/>
            <a:ext cx="5422392" cy="1097280"/>
          </a:xfrm>
          <a:prstGeom prst="roundRect">
            <a:avLst>
              <a:gd name="adj" fmla="val 10000"/>
            </a:avLst>
          </a:prstGeom>
          <a:solidFill>
            <a:schemeClr val="bg2"/>
          </a:solidFill>
          <a:ln w="12700">
            <a:solidFill>
              <a:schemeClr val="bg2"/>
            </a:solidFill>
            <a:prstDash val="solid"/>
          </a:ln>
        </p:spPr>
      </p:sp>
      <p:sp>
        <p:nvSpPr>
          <p:cNvPr id="9" name="Shape 7"/>
          <p:cNvSpPr/>
          <p:nvPr/>
        </p:nvSpPr>
        <p:spPr>
          <a:xfrm>
            <a:off x="6464808" y="160020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6464808" y="16002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1" name="Text 9"/>
          <p:cNvSpPr txBox="1"/>
          <p:nvPr/>
        </p:nvSpPr>
        <p:spPr>
          <a:xfrm>
            <a:off x="7242048" y="146304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Build it yourself first</a:t>
            </a:r>
            <a:endParaRPr lang="en-US" sz="1700" dirty="0"/>
          </a:p>
        </p:txBody>
      </p:sp>
      <p:sp>
        <p:nvSpPr>
          <p:cNvPr id="12" name="Text 10"/>
          <p:cNvSpPr txBox="1"/>
          <p:nvPr/>
        </p:nvSpPr>
        <p:spPr>
          <a:xfrm>
            <a:off x="7242048" y="1828800"/>
            <a:ext cx="4251960" cy="502920"/>
          </a:xfrm>
          <a:prstGeom prst="rect">
            <a:avLst/>
          </a:prstGeom>
          <a:noFill/>
          <a:ln/>
        </p:spPr>
        <p:txBody>
          <a:bodyPr wrap="square" lIns="0" tIns="0" rIns="0" bIns="0" rtlCol="0" anchor="t"/>
          <a:lstStyle/>
          <a:p>
            <a:pPr indent="0" marL="0">
              <a:buNone/>
            </a:pPr>
            <a:r>
              <a:rPr lang="en-US" sz="1400" dirty="0">
                <a:solidFill>
                  <a:schemeClr val="tx2"/>
                </a:solidFill>
              </a:rPr>
              <a:t>Complete the reference project to find where interns will get stuck.</a:t>
            </a:r>
            <a:endParaRPr lang="en-US" sz="1400" dirty="0"/>
          </a:p>
        </p:txBody>
      </p:sp>
      <p:sp>
        <p:nvSpPr>
          <p:cNvPr id="13" name="Shape 11"/>
          <p:cNvSpPr/>
          <p:nvPr/>
        </p:nvSpPr>
        <p:spPr>
          <a:xfrm>
            <a:off x="548640" y="2606040"/>
            <a:ext cx="5422392" cy="1097280"/>
          </a:xfrm>
          <a:prstGeom prst="roundRect">
            <a:avLst>
              <a:gd name="adj" fmla="val 10000"/>
            </a:avLst>
          </a:prstGeom>
          <a:solidFill>
            <a:schemeClr val="bg2"/>
          </a:solidFill>
          <a:ln w="12700">
            <a:solidFill>
              <a:schemeClr val="bg2"/>
            </a:solidFill>
            <a:prstDash val="solid"/>
          </a:ln>
        </p:spPr>
      </p:sp>
      <p:sp>
        <p:nvSpPr>
          <p:cNvPr id="14" name="Shape 12"/>
          <p:cNvSpPr/>
          <p:nvPr/>
        </p:nvSpPr>
        <p:spPr>
          <a:xfrm>
            <a:off x="777240" y="288036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777240" y="288036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6" name="Text 14"/>
          <p:cNvSpPr txBox="1"/>
          <p:nvPr/>
        </p:nvSpPr>
        <p:spPr>
          <a:xfrm>
            <a:off x="1554480" y="274320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One stack, one way</a:t>
            </a:r>
            <a:endParaRPr lang="en-US" sz="1700" dirty="0"/>
          </a:p>
        </p:txBody>
      </p:sp>
      <p:sp>
        <p:nvSpPr>
          <p:cNvPr id="17" name="Text 15"/>
          <p:cNvSpPr txBox="1"/>
          <p:nvPr/>
        </p:nvSpPr>
        <p:spPr>
          <a:xfrm>
            <a:off x="1554480" y="3108960"/>
            <a:ext cx="4251960" cy="502920"/>
          </a:xfrm>
          <a:prstGeom prst="rect">
            <a:avLst/>
          </a:prstGeom>
          <a:noFill/>
          <a:ln/>
        </p:spPr>
        <p:txBody>
          <a:bodyPr wrap="square" lIns="0" tIns="0" rIns="0" bIns="0" rtlCol="0" anchor="t"/>
          <a:lstStyle/>
          <a:p>
            <a:pPr indent="0" marL="0">
              <a:buNone/>
            </a:pPr>
            <a:r>
              <a:rPr lang="en-US" sz="1400" dirty="0">
                <a:solidFill>
                  <a:schemeClr val="tx2"/>
                </a:solidFill>
              </a:rPr>
              <a:t>No alternative libraries mid-program. Consistency beats variety.</a:t>
            </a:r>
            <a:endParaRPr lang="en-US" sz="1400" dirty="0"/>
          </a:p>
        </p:txBody>
      </p:sp>
      <p:sp>
        <p:nvSpPr>
          <p:cNvPr id="18" name="Shape 16"/>
          <p:cNvSpPr/>
          <p:nvPr/>
        </p:nvSpPr>
        <p:spPr>
          <a:xfrm>
            <a:off x="6236208" y="2606040"/>
            <a:ext cx="5422392" cy="1097280"/>
          </a:xfrm>
          <a:prstGeom prst="roundRect">
            <a:avLst>
              <a:gd name="adj" fmla="val 10000"/>
            </a:avLst>
          </a:prstGeom>
          <a:solidFill>
            <a:schemeClr val="bg2"/>
          </a:solidFill>
          <a:ln w="12700">
            <a:solidFill>
              <a:schemeClr val="bg2"/>
            </a:solidFill>
            <a:prstDash val="solid"/>
          </a:ln>
        </p:spPr>
      </p:sp>
      <p:sp>
        <p:nvSpPr>
          <p:cNvPr id="19" name="Shape 17"/>
          <p:cNvSpPr/>
          <p:nvPr/>
        </p:nvSpPr>
        <p:spPr>
          <a:xfrm>
            <a:off x="6464808" y="288036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6464808" y="288036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1" name="Text 19"/>
          <p:cNvSpPr txBox="1"/>
          <p:nvPr/>
        </p:nvSpPr>
        <p:spPr>
          <a:xfrm>
            <a:off x="7242048" y="274320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Running code every day</a:t>
            </a:r>
            <a:endParaRPr lang="en-US" sz="1700" dirty="0"/>
          </a:p>
        </p:txBody>
      </p:sp>
      <p:sp>
        <p:nvSpPr>
          <p:cNvPr id="22" name="Text 20"/>
          <p:cNvSpPr txBox="1"/>
          <p:nvPr/>
        </p:nvSpPr>
        <p:spPr>
          <a:xfrm>
            <a:off x="7242048" y="3108960"/>
            <a:ext cx="4251960" cy="502920"/>
          </a:xfrm>
          <a:prstGeom prst="rect">
            <a:avLst/>
          </a:prstGeom>
          <a:noFill/>
          <a:ln/>
        </p:spPr>
        <p:txBody>
          <a:bodyPr wrap="square" lIns="0" tIns="0" rIns="0" bIns="0" rtlCol="0" anchor="t"/>
          <a:lstStyle/>
          <a:p>
            <a:pPr indent="0" marL="0">
              <a:buNone/>
            </a:pPr>
            <a:r>
              <a:rPr lang="en-US" sz="1400" dirty="0">
                <a:solidFill>
                  <a:schemeClr val="tx2"/>
                </a:solidFill>
              </a:rPr>
              <a:t>Each session ends with a working increment, never a half-built feature.</a:t>
            </a:r>
            <a:endParaRPr lang="en-US" sz="1400" dirty="0"/>
          </a:p>
        </p:txBody>
      </p:sp>
      <p:sp>
        <p:nvSpPr>
          <p:cNvPr id="23" name="Shape 21"/>
          <p:cNvSpPr/>
          <p:nvPr/>
        </p:nvSpPr>
        <p:spPr>
          <a:xfrm>
            <a:off x="548640" y="3886200"/>
            <a:ext cx="5422392" cy="1097280"/>
          </a:xfrm>
          <a:prstGeom prst="roundRect">
            <a:avLst>
              <a:gd name="adj" fmla="val 10000"/>
            </a:avLst>
          </a:prstGeom>
          <a:solidFill>
            <a:schemeClr val="bg2"/>
          </a:solidFill>
          <a:ln w="12700">
            <a:solidFill>
              <a:schemeClr val="bg2"/>
            </a:solidFill>
            <a:prstDash val="solid"/>
          </a:ln>
        </p:spPr>
      </p:sp>
      <p:sp>
        <p:nvSpPr>
          <p:cNvPr id="24" name="Shape 22"/>
          <p:cNvSpPr/>
          <p:nvPr/>
        </p:nvSpPr>
        <p:spPr>
          <a:xfrm>
            <a:off x="777240" y="416052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777240" y="416052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6" name="Text 24"/>
          <p:cNvSpPr txBox="1"/>
          <p:nvPr/>
        </p:nvSpPr>
        <p:spPr>
          <a:xfrm>
            <a:off x="1554480" y="402336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One PR per day</a:t>
            </a:r>
            <a:endParaRPr lang="en-US" sz="1700" dirty="0"/>
          </a:p>
        </p:txBody>
      </p:sp>
      <p:sp>
        <p:nvSpPr>
          <p:cNvPr id="27" name="Text 25"/>
          <p:cNvSpPr txBox="1"/>
          <p:nvPr/>
        </p:nvSpPr>
        <p:spPr>
          <a:xfrm>
            <a:off x="1554480" y="4389120"/>
            <a:ext cx="4251960" cy="502920"/>
          </a:xfrm>
          <a:prstGeom prst="rect">
            <a:avLst/>
          </a:prstGeom>
          <a:noFill/>
          <a:ln/>
        </p:spPr>
        <p:txBody>
          <a:bodyPr wrap="square" lIns="0" tIns="0" rIns="0" bIns="0" rtlCol="0" anchor="t"/>
          <a:lstStyle/>
          <a:p>
            <a:pPr indent="0" marL="0">
              <a:buNone/>
            </a:pPr>
            <a:r>
              <a:rPr lang="en-US" sz="1400" dirty="0">
                <a:solidFill>
                  <a:schemeClr val="tx2"/>
                </a:solidFill>
              </a:rPr>
              <a:t>Mentors review before the next session, while feedback is still fresh.</a:t>
            </a:r>
            <a:endParaRPr lang="en-US" sz="1400" dirty="0"/>
          </a:p>
        </p:txBody>
      </p:sp>
      <p:sp>
        <p:nvSpPr>
          <p:cNvPr id="28" name="Shape 26"/>
          <p:cNvSpPr/>
          <p:nvPr/>
        </p:nvSpPr>
        <p:spPr>
          <a:xfrm>
            <a:off x="6236208" y="3886200"/>
            <a:ext cx="5422392" cy="1097280"/>
          </a:xfrm>
          <a:prstGeom prst="roundRect">
            <a:avLst>
              <a:gd name="adj" fmla="val 10000"/>
            </a:avLst>
          </a:prstGeom>
          <a:solidFill>
            <a:schemeClr val="bg2"/>
          </a:solidFill>
          <a:ln w="12700">
            <a:solidFill>
              <a:schemeClr val="bg2"/>
            </a:solidFill>
            <a:prstDash val="solid"/>
          </a:ln>
        </p:spPr>
      </p:sp>
      <p:sp>
        <p:nvSpPr>
          <p:cNvPr id="29" name="Shape 27"/>
          <p:cNvSpPr/>
          <p:nvPr/>
        </p:nvSpPr>
        <p:spPr>
          <a:xfrm>
            <a:off x="6464808" y="4160520"/>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6464808" y="416052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31" name="Text 29"/>
          <p:cNvSpPr txBox="1"/>
          <p:nvPr/>
        </p:nvSpPr>
        <p:spPr>
          <a:xfrm>
            <a:off x="7242048" y="402336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Live-code, don't read slides</a:t>
            </a:r>
            <a:endParaRPr lang="en-US" sz="1700" dirty="0"/>
          </a:p>
        </p:txBody>
      </p:sp>
      <p:sp>
        <p:nvSpPr>
          <p:cNvPr id="32" name="Text 30"/>
          <p:cNvSpPr txBox="1"/>
          <p:nvPr/>
        </p:nvSpPr>
        <p:spPr>
          <a:xfrm>
            <a:off x="7242048" y="4389120"/>
            <a:ext cx="4251960" cy="502920"/>
          </a:xfrm>
          <a:prstGeom prst="rect">
            <a:avLst/>
          </a:prstGeom>
          <a:noFill/>
          <a:ln/>
        </p:spPr>
        <p:txBody>
          <a:bodyPr wrap="square" lIns="0" tIns="0" rIns="0" bIns="0" rtlCol="0" anchor="t"/>
          <a:lstStyle/>
          <a:p>
            <a:pPr indent="0" marL="0">
              <a:buNone/>
            </a:pPr>
            <a:r>
              <a:rPr lang="en-US" sz="1400" dirty="0">
                <a:solidFill>
                  <a:schemeClr val="tx2"/>
                </a:solidFill>
              </a:rPr>
              <a:t>Type the code in front of them, including mistakes and fixes.</a:t>
            </a:r>
            <a:endParaRPr lang="en-US" sz="1400" dirty="0"/>
          </a:p>
        </p:txBody>
      </p:sp>
      <p:sp>
        <p:nvSpPr>
          <p:cNvPr id="33" name="Shape 31"/>
          <p:cNvSpPr/>
          <p:nvPr/>
        </p:nvSpPr>
        <p:spPr>
          <a:xfrm>
            <a:off x="548640" y="5166360"/>
            <a:ext cx="5422392" cy="1097280"/>
          </a:xfrm>
          <a:prstGeom prst="roundRect">
            <a:avLst>
              <a:gd name="adj" fmla="val 10000"/>
            </a:avLst>
          </a:prstGeom>
          <a:solidFill>
            <a:schemeClr val="bg2"/>
          </a:solidFill>
          <a:ln w="12700">
            <a:solidFill>
              <a:schemeClr val="bg2"/>
            </a:solidFill>
            <a:prstDash val="solid"/>
          </a:ln>
        </p:spPr>
      </p:sp>
      <p:sp>
        <p:nvSpPr>
          <p:cNvPr id="34" name="Shape 32"/>
          <p:cNvSpPr/>
          <p:nvPr/>
        </p:nvSpPr>
        <p:spPr>
          <a:xfrm>
            <a:off x="777240" y="5440680"/>
            <a:ext cx="548640" cy="548640"/>
          </a:xfrm>
          <a:prstGeom prst="ellipse">
            <a:avLst/>
          </a:prstGeom>
          <a:solidFill>
            <a:schemeClr val="accent1"/>
          </a:solidFill>
          <a:ln w="12700">
            <a:solidFill>
              <a:schemeClr val="accent1"/>
            </a:solidFill>
            <a:prstDash val="solid"/>
          </a:ln>
        </p:spPr>
      </p:sp>
      <p:sp>
        <p:nvSpPr>
          <p:cNvPr id="35" name="Text 33"/>
          <p:cNvSpPr txBox="1"/>
          <p:nvPr/>
        </p:nvSpPr>
        <p:spPr>
          <a:xfrm>
            <a:off x="777240" y="544068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7</a:t>
            </a:r>
            <a:endParaRPr lang="en-US" sz="1700" dirty="0"/>
          </a:p>
        </p:txBody>
      </p:sp>
      <p:sp>
        <p:nvSpPr>
          <p:cNvPr id="36" name="Text 34"/>
          <p:cNvSpPr txBox="1"/>
          <p:nvPr/>
        </p:nvSpPr>
        <p:spPr>
          <a:xfrm>
            <a:off x="1554480" y="530352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Explain the why</a:t>
            </a:r>
            <a:endParaRPr lang="en-US" sz="1700" dirty="0"/>
          </a:p>
        </p:txBody>
      </p:sp>
      <p:sp>
        <p:nvSpPr>
          <p:cNvPr id="37" name="Text 35"/>
          <p:cNvSpPr txBox="1"/>
          <p:nvPr/>
        </p:nvSpPr>
        <p:spPr>
          <a:xfrm>
            <a:off x="1554480" y="5669280"/>
            <a:ext cx="4251960" cy="502920"/>
          </a:xfrm>
          <a:prstGeom prst="rect">
            <a:avLst/>
          </a:prstGeom>
          <a:noFill/>
          <a:ln/>
        </p:spPr>
        <p:txBody>
          <a:bodyPr wrap="square" lIns="0" tIns="0" rIns="0" bIns="0" rtlCol="0" anchor="t"/>
          <a:lstStyle/>
          <a:p>
            <a:pPr indent="0" marL="0">
              <a:buNone/>
            </a:pPr>
            <a:r>
              <a:rPr lang="en-US" sz="1400" dirty="0">
                <a:solidFill>
                  <a:schemeClr val="tx2"/>
                </a:solidFill>
              </a:rPr>
              <a:t>Every layer has one job. Say why before showing how.</a:t>
            </a:r>
            <a:endParaRPr lang="en-US" sz="1400" dirty="0"/>
          </a:p>
        </p:txBody>
      </p:sp>
      <p:sp>
        <p:nvSpPr>
          <p:cNvPr id="38" name="Shape 36"/>
          <p:cNvSpPr/>
          <p:nvPr/>
        </p:nvSpPr>
        <p:spPr>
          <a:xfrm>
            <a:off x="6236208" y="5166360"/>
            <a:ext cx="5422392" cy="1097280"/>
          </a:xfrm>
          <a:prstGeom prst="roundRect">
            <a:avLst>
              <a:gd name="adj" fmla="val 10000"/>
            </a:avLst>
          </a:prstGeom>
          <a:solidFill>
            <a:schemeClr val="bg2"/>
          </a:solidFill>
          <a:ln w="12700">
            <a:solidFill>
              <a:schemeClr val="bg2"/>
            </a:solidFill>
            <a:prstDash val="solid"/>
          </a:ln>
        </p:spPr>
      </p:sp>
      <p:sp>
        <p:nvSpPr>
          <p:cNvPr id="39" name="Shape 37"/>
          <p:cNvSpPr/>
          <p:nvPr/>
        </p:nvSpPr>
        <p:spPr>
          <a:xfrm>
            <a:off x="6464808" y="5440680"/>
            <a:ext cx="548640" cy="548640"/>
          </a:xfrm>
          <a:prstGeom prst="ellipse">
            <a:avLst/>
          </a:prstGeom>
          <a:solidFill>
            <a:schemeClr val="accent1"/>
          </a:solidFill>
          <a:ln w="12700">
            <a:solidFill>
              <a:schemeClr val="accent1"/>
            </a:solidFill>
            <a:prstDash val="solid"/>
          </a:ln>
        </p:spPr>
      </p:sp>
      <p:sp>
        <p:nvSpPr>
          <p:cNvPr id="40" name="Text 38"/>
          <p:cNvSpPr txBox="1"/>
          <p:nvPr/>
        </p:nvSpPr>
        <p:spPr>
          <a:xfrm>
            <a:off x="6464808" y="544068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8</a:t>
            </a:r>
            <a:endParaRPr lang="en-US" sz="1700" dirty="0"/>
          </a:p>
        </p:txBody>
      </p:sp>
      <p:sp>
        <p:nvSpPr>
          <p:cNvPr id="41" name="Text 39"/>
          <p:cNvSpPr txBox="1"/>
          <p:nvPr/>
        </p:nvSpPr>
        <p:spPr>
          <a:xfrm>
            <a:off x="7242048" y="530352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Fail fast</a:t>
            </a:r>
            <a:endParaRPr lang="en-US" sz="1700" dirty="0"/>
          </a:p>
        </p:txBody>
      </p:sp>
      <p:sp>
        <p:nvSpPr>
          <p:cNvPr id="42" name="Text 40"/>
          <p:cNvSpPr txBox="1"/>
          <p:nvPr/>
        </p:nvSpPr>
        <p:spPr>
          <a:xfrm>
            <a:off x="7242048" y="5669280"/>
            <a:ext cx="4251960" cy="502920"/>
          </a:xfrm>
          <a:prstGeom prst="rect">
            <a:avLst/>
          </a:prstGeom>
          <a:noFill/>
          <a:ln/>
        </p:spPr>
        <p:txBody>
          <a:bodyPr wrap="square" lIns="0" tIns="0" rIns="0" bIns="0" rtlCol="0" anchor="t"/>
          <a:lstStyle/>
          <a:p>
            <a:pPr indent="0" marL="0">
              <a:buNone/>
            </a:pPr>
            <a:r>
              <a:rPr lang="en-US" sz="1400" dirty="0">
                <a:solidFill>
                  <a:schemeClr val="tx2"/>
                </a:solidFill>
              </a:rPr>
              <a:t>Validate input at the edge and surface errors early and clearly.</a:t>
            </a:r>
            <a:endParaRPr lang="en-US" sz="14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15 points for trainers to take care of (2/2)</a:t>
            </a:r>
            <a:endParaRPr lang="en-US" sz="3200" dirty="0"/>
          </a:p>
        </p:txBody>
      </p:sp>
      <p:sp>
        <p:nvSpPr>
          <p:cNvPr id="3" name="Shape 1"/>
          <p:cNvSpPr/>
          <p:nvPr/>
        </p:nvSpPr>
        <p:spPr>
          <a:xfrm>
            <a:off x="548640" y="1325880"/>
            <a:ext cx="5422392" cy="1097280"/>
          </a:xfrm>
          <a:prstGeom prst="roundRect">
            <a:avLst>
              <a:gd name="adj" fmla="val 10000"/>
            </a:avLst>
          </a:prstGeom>
          <a:solidFill>
            <a:schemeClr val="bg2"/>
          </a:solidFill>
          <a:ln w="12700">
            <a:solidFill>
              <a:schemeClr val="bg2"/>
            </a:solidFill>
            <a:prstDash val="solid"/>
          </a:ln>
        </p:spPr>
      </p:sp>
      <p:sp>
        <p:nvSpPr>
          <p:cNvPr id="4" name="Shape 2"/>
          <p:cNvSpPr/>
          <p:nvPr/>
        </p:nvSpPr>
        <p:spPr>
          <a:xfrm>
            <a:off x="777240" y="160020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9</a:t>
            </a:r>
            <a:endParaRPr lang="en-US" sz="1700" dirty="0"/>
          </a:p>
        </p:txBody>
      </p:sp>
      <p:sp>
        <p:nvSpPr>
          <p:cNvPr id="6" name="Text 4"/>
          <p:cNvSpPr txBox="1"/>
          <p:nvPr/>
        </p:nvSpPr>
        <p:spPr>
          <a:xfrm>
            <a:off x="1554480" y="146304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Secrets never in Git</a:t>
            </a:r>
            <a:endParaRPr lang="en-US" sz="1700" dirty="0"/>
          </a:p>
        </p:txBody>
      </p:sp>
      <p:sp>
        <p:nvSpPr>
          <p:cNvPr id="7" name="Text 5"/>
          <p:cNvSpPr txBox="1"/>
          <p:nvPr/>
        </p:nvSpPr>
        <p:spPr>
          <a:xfrm>
            <a:off x="1554480" y="1828800"/>
            <a:ext cx="4251960" cy="502920"/>
          </a:xfrm>
          <a:prstGeom prst="rect">
            <a:avLst/>
          </a:prstGeom>
          <a:noFill/>
          <a:ln/>
        </p:spPr>
        <p:txBody>
          <a:bodyPr wrap="square" lIns="0" tIns="0" rIns="0" bIns="0" rtlCol="0" anchor="t"/>
          <a:lstStyle/>
          <a:p>
            <a:pPr indent="0" marL="0">
              <a:buNone/>
            </a:pPr>
            <a:r>
              <a:rPr lang="en-US" sz="1400" dirty="0">
                <a:solidFill>
                  <a:schemeClr val="tx2"/>
                </a:solidFill>
              </a:rPr>
              <a:t>.env sits in .gitignore from Day 1. Check it on every PR.</a:t>
            </a:r>
            <a:endParaRPr lang="en-US" sz="1400" dirty="0"/>
          </a:p>
        </p:txBody>
      </p:sp>
      <p:sp>
        <p:nvSpPr>
          <p:cNvPr id="8" name="Shape 6"/>
          <p:cNvSpPr/>
          <p:nvPr/>
        </p:nvSpPr>
        <p:spPr>
          <a:xfrm>
            <a:off x="6236208" y="1325880"/>
            <a:ext cx="5422392" cy="1097280"/>
          </a:xfrm>
          <a:prstGeom prst="roundRect">
            <a:avLst>
              <a:gd name="adj" fmla="val 10000"/>
            </a:avLst>
          </a:prstGeom>
          <a:solidFill>
            <a:schemeClr val="bg2"/>
          </a:solidFill>
          <a:ln w="12700">
            <a:solidFill>
              <a:schemeClr val="bg2"/>
            </a:solidFill>
            <a:prstDash val="solid"/>
          </a:ln>
        </p:spPr>
      </p:sp>
      <p:sp>
        <p:nvSpPr>
          <p:cNvPr id="9" name="Shape 7"/>
          <p:cNvSpPr/>
          <p:nvPr/>
        </p:nvSpPr>
        <p:spPr>
          <a:xfrm>
            <a:off x="6464808" y="160020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6464808" y="16002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10</a:t>
            </a:r>
            <a:endParaRPr lang="en-US" sz="1700" dirty="0"/>
          </a:p>
        </p:txBody>
      </p:sp>
      <p:sp>
        <p:nvSpPr>
          <p:cNvPr id="11" name="Text 9"/>
          <p:cNvSpPr txBox="1"/>
          <p:nvPr/>
        </p:nvSpPr>
        <p:spPr>
          <a:xfrm>
            <a:off x="7242048" y="146304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Test the unhappy paths</a:t>
            </a:r>
            <a:endParaRPr lang="en-US" sz="1700" dirty="0"/>
          </a:p>
        </p:txBody>
      </p:sp>
      <p:sp>
        <p:nvSpPr>
          <p:cNvPr id="12" name="Text 10"/>
          <p:cNvSpPr txBox="1"/>
          <p:nvPr/>
        </p:nvSpPr>
        <p:spPr>
          <a:xfrm>
            <a:off x="7242048" y="1828800"/>
            <a:ext cx="4251960" cy="502920"/>
          </a:xfrm>
          <a:prstGeom prst="rect">
            <a:avLst/>
          </a:prstGeom>
          <a:noFill/>
          <a:ln/>
        </p:spPr>
        <p:txBody>
          <a:bodyPr wrap="square" lIns="0" tIns="0" rIns="0" bIns="0" rtlCol="0" anchor="t"/>
          <a:lstStyle/>
          <a:p>
            <a:pPr indent="0" marL="0">
              <a:buNone/>
            </a:pPr>
            <a:r>
              <a:rPr lang="en-US" sz="1400" dirty="0">
                <a:solidFill>
                  <a:schemeClr val="tx2"/>
                </a:solidFill>
              </a:rPr>
              <a:t>401, 404, and 422 responses matter as much as 200.</a:t>
            </a:r>
            <a:endParaRPr lang="en-US" sz="1400" dirty="0"/>
          </a:p>
        </p:txBody>
      </p:sp>
      <p:sp>
        <p:nvSpPr>
          <p:cNvPr id="13" name="Shape 11"/>
          <p:cNvSpPr/>
          <p:nvPr/>
        </p:nvSpPr>
        <p:spPr>
          <a:xfrm>
            <a:off x="548640" y="2606040"/>
            <a:ext cx="5422392" cy="1097280"/>
          </a:xfrm>
          <a:prstGeom prst="roundRect">
            <a:avLst>
              <a:gd name="adj" fmla="val 10000"/>
            </a:avLst>
          </a:prstGeom>
          <a:solidFill>
            <a:schemeClr val="bg2"/>
          </a:solidFill>
          <a:ln w="12700">
            <a:solidFill>
              <a:schemeClr val="bg2"/>
            </a:solidFill>
            <a:prstDash val="solid"/>
          </a:ln>
        </p:spPr>
      </p:sp>
      <p:sp>
        <p:nvSpPr>
          <p:cNvPr id="14" name="Shape 12"/>
          <p:cNvSpPr/>
          <p:nvPr/>
        </p:nvSpPr>
        <p:spPr>
          <a:xfrm>
            <a:off x="777240" y="288036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777240" y="288036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11</a:t>
            </a:r>
            <a:endParaRPr lang="en-US" sz="1700" dirty="0"/>
          </a:p>
        </p:txBody>
      </p:sp>
      <p:sp>
        <p:nvSpPr>
          <p:cNvPr id="16" name="Text 14"/>
          <p:cNvSpPr txBox="1"/>
          <p:nvPr/>
        </p:nvSpPr>
        <p:spPr>
          <a:xfrm>
            <a:off x="1554480" y="274320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Read tracebacks together</a:t>
            </a:r>
            <a:endParaRPr lang="en-US" sz="1700" dirty="0"/>
          </a:p>
        </p:txBody>
      </p:sp>
      <p:sp>
        <p:nvSpPr>
          <p:cNvPr id="17" name="Text 15"/>
          <p:cNvSpPr txBox="1"/>
          <p:nvPr/>
        </p:nvSpPr>
        <p:spPr>
          <a:xfrm>
            <a:off x="1554480" y="3108960"/>
            <a:ext cx="4251960" cy="502920"/>
          </a:xfrm>
          <a:prstGeom prst="rect">
            <a:avLst/>
          </a:prstGeom>
          <a:noFill/>
          <a:ln/>
        </p:spPr>
        <p:txBody>
          <a:bodyPr wrap="square" lIns="0" tIns="0" rIns="0" bIns="0" rtlCol="0" anchor="t"/>
          <a:lstStyle/>
          <a:p>
            <a:pPr indent="0" marL="0">
              <a:buNone/>
            </a:pPr>
            <a:r>
              <a:rPr lang="en-US" sz="1400" dirty="0">
                <a:solidFill>
                  <a:schemeClr val="tx2"/>
                </a:solidFill>
              </a:rPr>
              <a:t>Debugging is a skill. Teach it by doing it out loud.</a:t>
            </a:r>
            <a:endParaRPr lang="en-US" sz="1400" dirty="0"/>
          </a:p>
        </p:txBody>
      </p:sp>
      <p:sp>
        <p:nvSpPr>
          <p:cNvPr id="18" name="Shape 16"/>
          <p:cNvSpPr/>
          <p:nvPr/>
        </p:nvSpPr>
        <p:spPr>
          <a:xfrm>
            <a:off x="6236208" y="2606040"/>
            <a:ext cx="5422392" cy="1097280"/>
          </a:xfrm>
          <a:prstGeom prst="roundRect">
            <a:avLst>
              <a:gd name="adj" fmla="val 10000"/>
            </a:avLst>
          </a:prstGeom>
          <a:solidFill>
            <a:schemeClr val="bg2"/>
          </a:solidFill>
          <a:ln w="12700">
            <a:solidFill>
              <a:schemeClr val="bg2"/>
            </a:solidFill>
            <a:prstDash val="solid"/>
          </a:ln>
        </p:spPr>
      </p:sp>
      <p:sp>
        <p:nvSpPr>
          <p:cNvPr id="19" name="Shape 17"/>
          <p:cNvSpPr/>
          <p:nvPr/>
        </p:nvSpPr>
        <p:spPr>
          <a:xfrm>
            <a:off x="6464808" y="288036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6464808" y="288036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12</a:t>
            </a:r>
            <a:endParaRPr lang="en-US" sz="1700" dirty="0"/>
          </a:p>
        </p:txBody>
      </p:sp>
      <p:sp>
        <p:nvSpPr>
          <p:cNvPr id="21" name="Text 19"/>
          <p:cNvSpPr txBox="1"/>
          <p:nvPr/>
        </p:nvSpPr>
        <p:spPr>
          <a:xfrm>
            <a:off x="7242048" y="274320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Pair and rotate</a:t>
            </a:r>
            <a:endParaRPr lang="en-US" sz="1700" dirty="0"/>
          </a:p>
        </p:txBody>
      </p:sp>
      <p:sp>
        <p:nvSpPr>
          <p:cNvPr id="22" name="Text 20"/>
          <p:cNvSpPr txBox="1"/>
          <p:nvPr/>
        </p:nvSpPr>
        <p:spPr>
          <a:xfrm>
            <a:off x="7242048" y="3108960"/>
            <a:ext cx="4251960" cy="502920"/>
          </a:xfrm>
          <a:prstGeom prst="rect">
            <a:avLst/>
          </a:prstGeom>
          <a:noFill/>
          <a:ln/>
        </p:spPr>
        <p:txBody>
          <a:bodyPr wrap="square" lIns="0" tIns="0" rIns="0" bIns="0" rtlCol="0" anchor="t"/>
          <a:lstStyle/>
          <a:p>
            <a:pPr indent="0" marL="0">
              <a:buNone/>
            </a:pPr>
            <a:r>
              <a:rPr lang="en-US" sz="1400" dirty="0">
                <a:solidFill>
                  <a:schemeClr val="tx2"/>
                </a:solidFill>
              </a:rPr>
              <a:t>Mix stronger and newer interns, and rotate pairs every week.</a:t>
            </a:r>
            <a:endParaRPr lang="en-US" sz="1400" dirty="0"/>
          </a:p>
        </p:txBody>
      </p:sp>
      <p:sp>
        <p:nvSpPr>
          <p:cNvPr id="23" name="Shape 21"/>
          <p:cNvSpPr/>
          <p:nvPr/>
        </p:nvSpPr>
        <p:spPr>
          <a:xfrm>
            <a:off x="548640" y="3886200"/>
            <a:ext cx="5422392" cy="1097280"/>
          </a:xfrm>
          <a:prstGeom prst="roundRect">
            <a:avLst>
              <a:gd name="adj" fmla="val 10000"/>
            </a:avLst>
          </a:prstGeom>
          <a:solidFill>
            <a:schemeClr val="bg2"/>
          </a:solidFill>
          <a:ln w="12700">
            <a:solidFill>
              <a:schemeClr val="bg2"/>
            </a:solidFill>
            <a:prstDash val="solid"/>
          </a:ln>
        </p:spPr>
      </p:sp>
      <p:sp>
        <p:nvSpPr>
          <p:cNvPr id="24" name="Shape 22"/>
          <p:cNvSpPr/>
          <p:nvPr/>
        </p:nvSpPr>
        <p:spPr>
          <a:xfrm>
            <a:off x="777240" y="416052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777240" y="416052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13</a:t>
            </a:r>
            <a:endParaRPr lang="en-US" sz="1700" dirty="0"/>
          </a:p>
        </p:txBody>
      </p:sp>
      <p:sp>
        <p:nvSpPr>
          <p:cNvPr id="26" name="Text 24"/>
          <p:cNvSpPr txBox="1"/>
          <p:nvPr/>
        </p:nvSpPr>
        <p:spPr>
          <a:xfrm>
            <a:off x="1554480" y="402336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Protect the lighter days</a:t>
            </a:r>
            <a:endParaRPr lang="en-US" sz="1700" dirty="0"/>
          </a:p>
        </p:txBody>
      </p:sp>
      <p:sp>
        <p:nvSpPr>
          <p:cNvPr id="27" name="Text 25"/>
          <p:cNvSpPr txBox="1"/>
          <p:nvPr/>
        </p:nvSpPr>
        <p:spPr>
          <a:xfrm>
            <a:off x="1554480" y="4389120"/>
            <a:ext cx="4251960" cy="502920"/>
          </a:xfrm>
          <a:prstGeom prst="rect">
            <a:avLst/>
          </a:prstGeom>
          <a:noFill/>
          <a:ln/>
        </p:spPr>
        <p:txBody>
          <a:bodyPr wrap="square" lIns="0" tIns="0" rIns="0" bIns="0" rtlCol="0" anchor="t"/>
          <a:lstStyle/>
          <a:p>
            <a:pPr indent="0" marL="0">
              <a:buNone/>
            </a:pPr>
            <a:r>
              <a:rPr lang="en-US" sz="1400" dirty="0">
                <a:solidFill>
                  <a:schemeClr val="tx2"/>
                </a:solidFill>
              </a:rPr>
              <a:t>Days 6 and 14 are for catching up, not for new content.</a:t>
            </a:r>
            <a:endParaRPr lang="en-US" sz="1400" dirty="0"/>
          </a:p>
        </p:txBody>
      </p:sp>
      <p:sp>
        <p:nvSpPr>
          <p:cNvPr id="28" name="Shape 26"/>
          <p:cNvSpPr/>
          <p:nvPr/>
        </p:nvSpPr>
        <p:spPr>
          <a:xfrm>
            <a:off x="6236208" y="3886200"/>
            <a:ext cx="5422392" cy="1097280"/>
          </a:xfrm>
          <a:prstGeom prst="roundRect">
            <a:avLst>
              <a:gd name="adj" fmla="val 10000"/>
            </a:avLst>
          </a:prstGeom>
          <a:solidFill>
            <a:schemeClr val="bg2"/>
          </a:solidFill>
          <a:ln w="12700">
            <a:solidFill>
              <a:schemeClr val="bg2"/>
            </a:solidFill>
            <a:prstDash val="solid"/>
          </a:ln>
        </p:spPr>
      </p:sp>
      <p:sp>
        <p:nvSpPr>
          <p:cNvPr id="29" name="Shape 27"/>
          <p:cNvSpPr/>
          <p:nvPr/>
        </p:nvSpPr>
        <p:spPr>
          <a:xfrm>
            <a:off x="6464808" y="4160520"/>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6464808" y="416052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14</a:t>
            </a:r>
            <a:endParaRPr lang="en-US" sz="1700" dirty="0"/>
          </a:p>
        </p:txBody>
      </p:sp>
      <p:sp>
        <p:nvSpPr>
          <p:cNvPr id="31" name="Text 29"/>
          <p:cNvSpPr txBox="1"/>
          <p:nvPr/>
        </p:nvSpPr>
        <p:spPr>
          <a:xfrm>
            <a:off x="7242048" y="402336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Track progress visibly</a:t>
            </a:r>
            <a:endParaRPr lang="en-US" sz="1700" dirty="0"/>
          </a:p>
        </p:txBody>
      </p:sp>
      <p:sp>
        <p:nvSpPr>
          <p:cNvPr id="32" name="Text 30"/>
          <p:cNvSpPr txBox="1"/>
          <p:nvPr/>
        </p:nvSpPr>
        <p:spPr>
          <a:xfrm>
            <a:off x="7242048" y="4389120"/>
            <a:ext cx="4251960" cy="502920"/>
          </a:xfrm>
          <a:prstGeom prst="rect">
            <a:avLst/>
          </a:prstGeom>
          <a:noFill/>
          <a:ln/>
        </p:spPr>
        <p:txBody>
          <a:bodyPr wrap="square" lIns="0" tIns="0" rIns="0" bIns="0" rtlCol="0" anchor="t"/>
          <a:lstStyle/>
          <a:p>
            <a:pPr indent="0" marL="0">
              <a:buNone/>
            </a:pPr>
            <a:r>
              <a:rPr lang="en-US" sz="1400" dirty="0">
                <a:solidFill>
                  <a:schemeClr val="tx2"/>
                </a:solidFill>
              </a:rPr>
              <a:t>A simple board: done or blocked, per intern, per day.</a:t>
            </a:r>
            <a:endParaRPr lang="en-US" sz="1400" dirty="0"/>
          </a:p>
        </p:txBody>
      </p:sp>
      <p:sp>
        <p:nvSpPr>
          <p:cNvPr id="33" name="Shape 31"/>
          <p:cNvSpPr/>
          <p:nvPr/>
        </p:nvSpPr>
        <p:spPr>
          <a:xfrm>
            <a:off x="548640" y="5166360"/>
            <a:ext cx="5422392" cy="1097280"/>
          </a:xfrm>
          <a:prstGeom prst="roundRect">
            <a:avLst>
              <a:gd name="adj" fmla="val 10000"/>
            </a:avLst>
          </a:prstGeom>
          <a:solidFill>
            <a:schemeClr val="bg2"/>
          </a:solidFill>
          <a:ln w="12700">
            <a:solidFill>
              <a:schemeClr val="bg2"/>
            </a:solidFill>
            <a:prstDash val="solid"/>
          </a:ln>
        </p:spPr>
      </p:sp>
      <p:sp>
        <p:nvSpPr>
          <p:cNvPr id="34" name="Shape 32"/>
          <p:cNvSpPr/>
          <p:nvPr/>
        </p:nvSpPr>
        <p:spPr>
          <a:xfrm>
            <a:off x="777240" y="5440680"/>
            <a:ext cx="548640" cy="548640"/>
          </a:xfrm>
          <a:prstGeom prst="ellipse">
            <a:avLst/>
          </a:prstGeom>
          <a:solidFill>
            <a:schemeClr val="accent1"/>
          </a:solidFill>
          <a:ln w="12700">
            <a:solidFill>
              <a:schemeClr val="accent1"/>
            </a:solidFill>
            <a:prstDash val="solid"/>
          </a:ln>
        </p:spPr>
      </p:sp>
      <p:sp>
        <p:nvSpPr>
          <p:cNvPr id="35" name="Text 33"/>
          <p:cNvSpPr txBox="1"/>
          <p:nvPr/>
        </p:nvSpPr>
        <p:spPr>
          <a:xfrm>
            <a:off x="777240" y="544068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15</a:t>
            </a:r>
            <a:endParaRPr lang="en-US" sz="1700" dirty="0"/>
          </a:p>
        </p:txBody>
      </p:sp>
      <p:sp>
        <p:nvSpPr>
          <p:cNvPr id="36" name="Text 34"/>
          <p:cNvSpPr txBox="1"/>
          <p:nvPr/>
        </p:nvSpPr>
        <p:spPr>
          <a:xfrm>
            <a:off x="1554480" y="5303520"/>
            <a:ext cx="4251960" cy="365760"/>
          </a:xfrm>
          <a:prstGeom prst="rect">
            <a:avLst/>
          </a:prstGeom>
          <a:noFill/>
          <a:ln/>
        </p:spPr>
        <p:txBody>
          <a:bodyPr wrap="square" lIns="0" tIns="0" rIns="0" bIns="0" rtlCol="0" anchor="ctr"/>
          <a:lstStyle/>
          <a:p>
            <a:pPr indent="0" marL="0">
              <a:buNone/>
            </a:pPr>
            <a:r>
              <a:rPr lang="en-US" sz="1700" b="1" dirty="0">
                <a:solidFill>
                  <a:schemeClr val="tx1"/>
                </a:solidFill>
              </a:rPr>
              <a:t>Everyone demos</a:t>
            </a:r>
            <a:endParaRPr lang="en-US" sz="1700" dirty="0"/>
          </a:p>
        </p:txBody>
      </p:sp>
      <p:sp>
        <p:nvSpPr>
          <p:cNvPr id="37" name="Text 35"/>
          <p:cNvSpPr txBox="1"/>
          <p:nvPr/>
        </p:nvSpPr>
        <p:spPr>
          <a:xfrm>
            <a:off x="1554480" y="5669280"/>
            <a:ext cx="4251960" cy="502920"/>
          </a:xfrm>
          <a:prstGeom prst="rect">
            <a:avLst/>
          </a:prstGeom>
          <a:noFill/>
          <a:ln/>
        </p:spPr>
        <p:txBody>
          <a:bodyPr wrap="square" lIns="0" tIns="0" rIns="0" bIns="0" rtlCol="0" anchor="t"/>
          <a:lstStyle/>
          <a:p>
            <a:pPr indent="0" marL="0">
              <a:buNone/>
            </a:pPr>
            <a:r>
              <a:rPr lang="en-US" sz="1400" dirty="0">
                <a:solidFill>
                  <a:schemeClr val="tx2"/>
                </a:solidFill>
              </a:rPr>
              <a:t>Day 7 mid-point and Day 15 final. Presenting builds ownership.</a:t>
            </a:r>
            <a:endParaRPr lang="en-US" sz="1400" dirty="0"/>
          </a:p>
        </p:txBody>
      </p:sp>
      <p:sp>
        <p:nvSpPr>
          <p:cNvPr id="38" name="Shape 36"/>
          <p:cNvSpPr/>
          <p:nvPr/>
        </p:nvSpPr>
        <p:spPr>
          <a:xfrm>
            <a:off x="6236208" y="5166360"/>
            <a:ext cx="5422392" cy="1097280"/>
          </a:xfrm>
          <a:prstGeom prst="roundRect">
            <a:avLst>
              <a:gd name="adj" fmla="val 10000"/>
            </a:avLst>
          </a:prstGeom>
          <a:solidFill>
            <a:schemeClr val="tx1"/>
          </a:solidFill>
          <a:ln w="12700">
            <a:solidFill>
              <a:schemeClr val="tx1"/>
            </a:solidFill>
            <a:prstDash val="solid"/>
          </a:ln>
        </p:spPr>
      </p:sp>
      <p:sp>
        <p:nvSpPr>
          <p:cNvPr id="39" name="Text 37"/>
          <p:cNvSpPr txBox="1"/>
          <p:nvPr/>
        </p:nvSpPr>
        <p:spPr>
          <a:xfrm>
            <a:off x="6510528" y="5166360"/>
            <a:ext cx="4937760" cy="1097280"/>
          </a:xfrm>
          <a:prstGeom prst="rect">
            <a:avLst/>
          </a:prstGeom>
          <a:noFill/>
          <a:ln/>
        </p:spPr>
        <p:txBody>
          <a:bodyPr wrap="square" lIns="0" tIns="0" rIns="0" bIns="0" rtlCol="0" anchor="ctr"/>
          <a:lstStyle/>
          <a:p>
            <a:pPr indent="0" marL="0">
              <a:buNone/>
            </a:pPr>
            <a:r>
              <a:rPr lang="en-US" sz="1700" b="1" dirty="0">
                <a:solidFill>
                  <a:schemeClr val="accent2"/>
                </a:solidFill>
              </a:rPr>
              <a:t>If you keep only one: every day ends with running code.</a:t>
            </a:r>
            <a:endParaRPr lang="en-US" sz="17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Definition of done for the final project</a:t>
            </a:r>
            <a:endParaRPr lang="en-US" sz="3200" dirty="0"/>
          </a:p>
        </p:txBody>
      </p:sp>
      <p:sp>
        <p:nvSpPr>
          <p:cNvPr id="3" name="Shape 1"/>
          <p:cNvSpPr/>
          <p:nvPr/>
        </p:nvSpPr>
        <p:spPr>
          <a:xfrm>
            <a:off x="548640" y="1417320"/>
            <a:ext cx="5422392" cy="1325880"/>
          </a:xfrm>
          <a:prstGeom prst="roundRect">
            <a:avLst>
              <a:gd name="adj" fmla="val 8276"/>
            </a:avLst>
          </a:prstGeom>
          <a:solidFill>
            <a:schemeClr val="bg2"/>
          </a:solidFill>
          <a:ln w="12700">
            <a:solidFill>
              <a:schemeClr val="bg2"/>
            </a:solidFill>
            <a:prstDash val="solid"/>
          </a:ln>
        </p:spPr>
      </p:sp>
      <p:sp>
        <p:nvSpPr>
          <p:cNvPr id="4" name="Shape 2"/>
          <p:cNvSpPr/>
          <p:nvPr/>
        </p:nvSpPr>
        <p:spPr>
          <a:xfrm>
            <a:off x="822960" y="1783080"/>
            <a:ext cx="594360" cy="5943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60120" y="1920240"/>
            <a:ext cx="320040" cy="320040"/>
          </a:xfrm>
          <a:prstGeom prst="rect">
            <a:avLst/>
          </a:prstGeom>
        </p:spPr>
      </p:pic>
      <p:sp>
        <p:nvSpPr>
          <p:cNvPr id="6" name="Text 3"/>
          <p:cNvSpPr txBox="1"/>
          <p:nvPr/>
        </p:nvSpPr>
        <p:spPr>
          <a:xfrm>
            <a:off x="1645920" y="1417320"/>
            <a:ext cx="4114800" cy="1325880"/>
          </a:xfrm>
          <a:prstGeom prst="rect">
            <a:avLst/>
          </a:prstGeom>
          <a:noFill/>
          <a:ln/>
        </p:spPr>
        <p:txBody>
          <a:bodyPr wrap="square" lIns="0" tIns="0" rIns="0" bIns="0" rtlCol="0" anchor="ctr"/>
          <a:lstStyle/>
          <a:p>
            <a:pPr indent="0" marL="0">
              <a:buNone/>
            </a:pPr>
            <a:r>
              <a:rPr lang="en-US" sz="1700" b="1" dirty="0">
                <a:solidFill>
                  <a:schemeClr val="tx1"/>
                </a:solidFill>
              </a:rPr>
              <a:t>Every endpoint in the spec works and appears in /docs</a:t>
            </a:r>
            <a:endParaRPr lang="en-US" sz="1700" dirty="0"/>
          </a:p>
        </p:txBody>
      </p:sp>
      <p:sp>
        <p:nvSpPr>
          <p:cNvPr id="7" name="Shape 4"/>
          <p:cNvSpPr/>
          <p:nvPr/>
        </p:nvSpPr>
        <p:spPr>
          <a:xfrm>
            <a:off x="6236208" y="1417320"/>
            <a:ext cx="5422392" cy="1325880"/>
          </a:xfrm>
          <a:prstGeom prst="roundRect">
            <a:avLst>
              <a:gd name="adj" fmla="val 8276"/>
            </a:avLst>
          </a:prstGeom>
          <a:solidFill>
            <a:schemeClr val="bg2"/>
          </a:solidFill>
          <a:ln w="12700">
            <a:solidFill>
              <a:schemeClr val="bg2"/>
            </a:solidFill>
            <a:prstDash val="solid"/>
          </a:ln>
        </p:spPr>
      </p:sp>
      <p:sp>
        <p:nvSpPr>
          <p:cNvPr id="8" name="Shape 5"/>
          <p:cNvSpPr/>
          <p:nvPr/>
        </p:nvSpPr>
        <p:spPr>
          <a:xfrm>
            <a:off x="6510528" y="1783080"/>
            <a:ext cx="594360" cy="59436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6647688" y="1920240"/>
            <a:ext cx="320040" cy="320040"/>
          </a:xfrm>
          <a:prstGeom prst="rect">
            <a:avLst/>
          </a:prstGeom>
        </p:spPr>
      </p:pic>
      <p:sp>
        <p:nvSpPr>
          <p:cNvPr id="10" name="Text 6"/>
          <p:cNvSpPr txBox="1"/>
          <p:nvPr/>
        </p:nvSpPr>
        <p:spPr>
          <a:xfrm>
            <a:off x="7333488" y="1417320"/>
            <a:ext cx="4114800" cy="1325880"/>
          </a:xfrm>
          <a:prstGeom prst="rect">
            <a:avLst/>
          </a:prstGeom>
          <a:noFill/>
          <a:ln/>
        </p:spPr>
        <p:txBody>
          <a:bodyPr wrap="square" lIns="0" tIns="0" rIns="0" bIns="0" rtlCol="0" anchor="ctr"/>
          <a:lstStyle/>
          <a:p>
            <a:pPr indent="0" marL="0">
              <a:buNone/>
            </a:pPr>
            <a:r>
              <a:rPr lang="en-US" sz="1700" b="1" dirty="0">
                <a:solidFill>
                  <a:schemeClr val="tx1"/>
                </a:solidFill>
              </a:rPr>
              <a:t>Every route except /auth requires a valid token</a:t>
            </a:r>
            <a:endParaRPr lang="en-US" sz="1700" dirty="0"/>
          </a:p>
        </p:txBody>
      </p:sp>
      <p:sp>
        <p:nvSpPr>
          <p:cNvPr id="11" name="Shape 7"/>
          <p:cNvSpPr/>
          <p:nvPr/>
        </p:nvSpPr>
        <p:spPr>
          <a:xfrm>
            <a:off x="548640" y="3017520"/>
            <a:ext cx="5422392" cy="1325880"/>
          </a:xfrm>
          <a:prstGeom prst="roundRect">
            <a:avLst>
              <a:gd name="adj" fmla="val 8276"/>
            </a:avLst>
          </a:prstGeom>
          <a:solidFill>
            <a:schemeClr val="bg2"/>
          </a:solidFill>
          <a:ln w="12700">
            <a:solidFill>
              <a:schemeClr val="bg2"/>
            </a:solidFill>
            <a:prstDash val="solid"/>
          </a:ln>
        </p:spPr>
      </p:sp>
      <p:sp>
        <p:nvSpPr>
          <p:cNvPr id="12" name="Shape 8"/>
          <p:cNvSpPr/>
          <p:nvPr/>
        </p:nvSpPr>
        <p:spPr>
          <a:xfrm>
            <a:off x="822960" y="3383280"/>
            <a:ext cx="594360" cy="594360"/>
          </a:xfrm>
          <a:prstGeom prst="ellipse">
            <a:avLst/>
          </a:prstGeom>
          <a:solidFill>
            <a:schemeClr val="accent1"/>
          </a:solidFill>
          <a:ln w="12700">
            <a:solidFill>
              <a:schemeClr val="accent1"/>
            </a:solidFill>
            <a:prstDash val="solid"/>
          </a:ln>
        </p:spPr>
      </p:sp>
      <p:pic>
        <p:nvPicPr>
          <p:cNvPr id="13" name="Image 2" descr="preencoded.png">    </p:cNvPr>
          <p:cNvPicPr>
            <a:picLocks noChangeAspect="1"/>
          </p:cNvPicPr>
          <p:nvPr/>
        </p:nvPicPr>
        <p:blipFill>
          <a:blip r:embed="rId3"/>
          <a:stretch>
            <a:fillRect/>
          </a:stretch>
        </p:blipFill>
        <p:spPr>
          <a:xfrm>
            <a:off x="960120" y="3520440"/>
            <a:ext cx="320040" cy="320040"/>
          </a:xfrm>
          <a:prstGeom prst="rect">
            <a:avLst/>
          </a:prstGeom>
        </p:spPr>
      </p:pic>
      <p:sp>
        <p:nvSpPr>
          <p:cNvPr id="14" name="Text 9"/>
          <p:cNvSpPr txBox="1"/>
          <p:nvPr/>
        </p:nvSpPr>
        <p:spPr>
          <a:xfrm>
            <a:off x="1645920" y="3017520"/>
            <a:ext cx="4114800" cy="1325880"/>
          </a:xfrm>
          <a:prstGeom prst="rect">
            <a:avLst/>
          </a:prstGeom>
          <a:noFill/>
          <a:ln/>
        </p:spPr>
        <p:txBody>
          <a:bodyPr wrap="square" lIns="0" tIns="0" rIns="0" bIns="0" rtlCol="0" anchor="ctr"/>
          <a:lstStyle/>
          <a:p>
            <a:pPr indent="0" marL="0">
              <a:buNone/>
            </a:pPr>
            <a:r>
              <a:rPr lang="en-US" sz="1700" b="1" dirty="0">
                <a:solidFill>
                  <a:schemeClr val="tx1"/>
                </a:solidFill>
              </a:rPr>
              <a:t>Users can access only their own projects and tasks</a:t>
            </a:r>
            <a:endParaRPr lang="en-US" sz="1700" dirty="0"/>
          </a:p>
        </p:txBody>
      </p:sp>
      <p:sp>
        <p:nvSpPr>
          <p:cNvPr id="15" name="Shape 10"/>
          <p:cNvSpPr/>
          <p:nvPr/>
        </p:nvSpPr>
        <p:spPr>
          <a:xfrm>
            <a:off x="6236208" y="3017520"/>
            <a:ext cx="5422392" cy="1325880"/>
          </a:xfrm>
          <a:prstGeom prst="roundRect">
            <a:avLst>
              <a:gd name="adj" fmla="val 8276"/>
            </a:avLst>
          </a:prstGeom>
          <a:solidFill>
            <a:schemeClr val="bg2"/>
          </a:solidFill>
          <a:ln w="12700">
            <a:solidFill>
              <a:schemeClr val="bg2"/>
            </a:solidFill>
            <a:prstDash val="solid"/>
          </a:ln>
        </p:spPr>
      </p:sp>
      <p:sp>
        <p:nvSpPr>
          <p:cNvPr id="16" name="Shape 11"/>
          <p:cNvSpPr/>
          <p:nvPr/>
        </p:nvSpPr>
        <p:spPr>
          <a:xfrm>
            <a:off x="6510528" y="3383280"/>
            <a:ext cx="594360" cy="594360"/>
          </a:xfrm>
          <a:prstGeom prst="ellipse">
            <a:avLst/>
          </a:prstGeom>
          <a:solidFill>
            <a:schemeClr val="accent1"/>
          </a:solidFill>
          <a:ln w="12700">
            <a:solidFill>
              <a:schemeClr val="accent1"/>
            </a:solidFill>
            <a:prstDash val="solid"/>
          </a:ln>
        </p:spPr>
      </p:sp>
      <p:pic>
        <p:nvPicPr>
          <p:cNvPr id="17" name="Image 3" descr="preencoded.png">    </p:cNvPr>
          <p:cNvPicPr>
            <a:picLocks noChangeAspect="1"/>
          </p:cNvPicPr>
          <p:nvPr/>
        </p:nvPicPr>
        <p:blipFill>
          <a:blip r:embed="rId4"/>
          <a:stretch>
            <a:fillRect/>
          </a:stretch>
        </p:blipFill>
        <p:spPr>
          <a:xfrm>
            <a:off x="6647688" y="3520440"/>
            <a:ext cx="320040" cy="320040"/>
          </a:xfrm>
          <a:prstGeom prst="rect">
            <a:avLst/>
          </a:prstGeom>
        </p:spPr>
      </p:pic>
      <p:sp>
        <p:nvSpPr>
          <p:cNvPr id="18" name="Text 12"/>
          <p:cNvSpPr txBox="1"/>
          <p:nvPr/>
        </p:nvSpPr>
        <p:spPr>
          <a:xfrm>
            <a:off x="7333488" y="3017520"/>
            <a:ext cx="4114800" cy="1325880"/>
          </a:xfrm>
          <a:prstGeom prst="rect">
            <a:avLst/>
          </a:prstGeom>
          <a:noFill/>
          <a:ln/>
        </p:spPr>
        <p:txBody>
          <a:bodyPr wrap="square" lIns="0" tIns="0" rIns="0" bIns="0" rtlCol="0" anchor="ctr"/>
          <a:lstStyle/>
          <a:p>
            <a:pPr indent="0" marL="0">
              <a:buNone/>
            </a:pPr>
            <a:r>
              <a:rPr lang="en-US" sz="1700" b="1" dirty="0">
                <a:solidFill>
                  <a:schemeClr val="tx1"/>
                </a:solidFill>
              </a:rPr>
              <a:t>uv run pytest passes and ruff check is clean</a:t>
            </a:r>
            <a:endParaRPr lang="en-US" sz="1700" dirty="0"/>
          </a:p>
        </p:txBody>
      </p:sp>
      <p:sp>
        <p:nvSpPr>
          <p:cNvPr id="19" name="Shape 13"/>
          <p:cNvSpPr/>
          <p:nvPr/>
        </p:nvSpPr>
        <p:spPr>
          <a:xfrm>
            <a:off x="548640" y="4617720"/>
            <a:ext cx="5422392" cy="1325880"/>
          </a:xfrm>
          <a:prstGeom prst="roundRect">
            <a:avLst>
              <a:gd name="adj" fmla="val 8276"/>
            </a:avLst>
          </a:prstGeom>
          <a:solidFill>
            <a:schemeClr val="bg2"/>
          </a:solidFill>
          <a:ln w="12700">
            <a:solidFill>
              <a:schemeClr val="bg2"/>
            </a:solidFill>
            <a:prstDash val="solid"/>
          </a:ln>
        </p:spPr>
      </p:sp>
      <p:sp>
        <p:nvSpPr>
          <p:cNvPr id="20" name="Shape 14"/>
          <p:cNvSpPr/>
          <p:nvPr/>
        </p:nvSpPr>
        <p:spPr>
          <a:xfrm>
            <a:off x="822960" y="4983480"/>
            <a:ext cx="594360" cy="594360"/>
          </a:xfrm>
          <a:prstGeom prst="ellipse">
            <a:avLst/>
          </a:prstGeom>
          <a:solidFill>
            <a:schemeClr val="accent1"/>
          </a:solidFill>
          <a:ln w="12700">
            <a:solidFill>
              <a:schemeClr val="accent1"/>
            </a:solidFill>
            <a:prstDash val="solid"/>
          </a:ln>
        </p:spPr>
      </p:sp>
      <p:pic>
        <p:nvPicPr>
          <p:cNvPr id="21" name="Image 4" descr="preencoded.png">    </p:cNvPr>
          <p:cNvPicPr>
            <a:picLocks noChangeAspect="1"/>
          </p:cNvPicPr>
          <p:nvPr/>
        </p:nvPicPr>
        <p:blipFill>
          <a:blip r:embed="rId5"/>
          <a:stretch>
            <a:fillRect/>
          </a:stretch>
        </p:blipFill>
        <p:spPr>
          <a:xfrm>
            <a:off x="960120" y="5120640"/>
            <a:ext cx="320040" cy="320040"/>
          </a:xfrm>
          <a:prstGeom prst="rect">
            <a:avLst/>
          </a:prstGeom>
        </p:spPr>
      </p:pic>
      <p:sp>
        <p:nvSpPr>
          <p:cNvPr id="22" name="Text 15"/>
          <p:cNvSpPr txBox="1"/>
          <p:nvPr/>
        </p:nvSpPr>
        <p:spPr>
          <a:xfrm>
            <a:off x="1645920" y="4617720"/>
            <a:ext cx="4114800" cy="1325880"/>
          </a:xfrm>
          <a:prstGeom prst="rect">
            <a:avLst/>
          </a:prstGeom>
          <a:noFill/>
          <a:ln/>
        </p:spPr>
        <p:txBody>
          <a:bodyPr wrap="square" lIns="0" tIns="0" rIns="0" bIns="0" rtlCol="0" anchor="ctr"/>
          <a:lstStyle/>
          <a:p>
            <a:pPr indent="0" marL="0">
              <a:buNone/>
            </a:pPr>
            <a:r>
              <a:rPr lang="en-US" sz="1700" b="1" dirty="0">
                <a:solidFill>
                  <a:schemeClr val="tx1"/>
                </a:solidFill>
              </a:rPr>
              <a:t>docker compose up runs the API, database, and migrations</a:t>
            </a:r>
            <a:endParaRPr lang="en-US" sz="1700" dirty="0"/>
          </a:p>
        </p:txBody>
      </p:sp>
      <p:sp>
        <p:nvSpPr>
          <p:cNvPr id="23" name="Shape 16"/>
          <p:cNvSpPr/>
          <p:nvPr/>
        </p:nvSpPr>
        <p:spPr>
          <a:xfrm>
            <a:off x="6236208" y="4617720"/>
            <a:ext cx="5422392" cy="1325880"/>
          </a:xfrm>
          <a:prstGeom prst="roundRect">
            <a:avLst>
              <a:gd name="adj" fmla="val 8276"/>
            </a:avLst>
          </a:prstGeom>
          <a:solidFill>
            <a:schemeClr val="bg2"/>
          </a:solidFill>
          <a:ln w="12700">
            <a:solidFill>
              <a:schemeClr val="bg2"/>
            </a:solidFill>
            <a:prstDash val="solid"/>
          </a:ln>
        </p:spPr>
      </p:sp>
      <p:sp>
        <p:nvSpPr>
          <p:cNvPr id="24" name="Shape 17"/>
          <p:cNvSpPr/>
          <p:nvPr/>
        </p:nvSpPr>
        <p:spPr>
          <a:xfrm>
            <a:off x="6510528" y="4983480"/>
            <a:ext cx="594360" cy="594360"/>
          </a:xfrm>
          <a:prstGeom prst="ellipse">
            <a:avLst/>
          </a:prstGeom>
          <a:solidFill>
            <a:schemeClr val="accent1"/>
          </a:solidFill>
          <a:ln w="12700">
            <a:solidFill>
              <a:schemeClr val="accent1"/>
            </a:solidFill>
            <a:prstDash val="solid"/>
          </a:ln>
        </p:spPr>
      </p:sp>
      <p:pic>
        <p:nvPicPr>
          <p:cNvPr id="25" name="Image 5" descr="preencoded.png">    </p:cNvPr>
          <p:cNvPicPr>
            <a:picLocks noChangeAspect="1"/>
          </p:cNvPicPr>
          <p:nvPr/>
        </p:nvPicPr>
        <p:blipFill>
          <a:blip r:embed="rId6"/>
          <a:stretch>
            <a:fillRect/>
          </a:stretch>
        </p:blipFill>
        <p:spPr>
          <a:xfrm>
            <a:off x="6647688" y="5120640"/>
            <a:ext cx="320040" cy="320040"/>
          </a:xfrm>
          <a:prstGeom prst="rect">
            <a:avLst/>
          </a:prstGeom>
        </p:spPr>
      </p:pic>
      <p:sp>
        <p:nvSpPr>
          <p:cNvPr id="26" name="Text 18"/>
          <p:cNvSpPr txBox="1"/>
          <p:nvPr/>
        </p:nvSpPr>
        <p:spPr>
          <a:xfrm>
            <a:off x="7333488" y="4617720"/>
            <a:ext cx="4114800" cy="1325880"/>
          </a:xfrm>
          <a:prstGeom prst="rect">
            <a:avLst/>
          </a:prstGeom>
          <a:noFill/>
          <a:ln/>
        </p:spPr>
        <p:txBody>
          <a:bodyPr wrap="square" lIns="0" tIns="0" rIns="0" bIns="0" rtlCol="0" anchor="ctr"/>
          <a:lstStyle/>
          <a:p>
            <a:pPr indent="0" marL="0">
              <a:buNone/>
            </a:pPr>
            <a:r>
              <a:rPr lang="en-US" sz="1700" b="1" dirty="0">
                <a:solidFill>
                  <a:schemeClr val="tx1"/>
                </a:solidFill>
              </a:rPr>
              <a:t>README explains setup in five steps or fewer</a:t>
            </a:r>
            <a:endParaRPr lang="en-US" sz="1700" dirty="0"/>
          </a:p>
        </p:txBody>
      </p:sp>
      <p:sp>
        <p:nvSpPr>
          <p:cNvPr id="25" name="Slide Number Placeholder 0"/>
          <p:cNvSpPr>
            <a:spLocks noGrp="1"/>
          </p:cNvSpPr>
          <p:nvPr>
            <p:ph type="sldNum" sz="quarter" idx="4294967295"/>
          </p:nvPr>
        </p:nvSpPr>
        <p:spPr>
          <a:xfrm>
            <a:off x="1120140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1554480"/>
            <a:ext cx="54864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DAY 15</a:t>
            </a:r>
            <a:endParaRPr lang="en-US" sz="1400" dirty="0"/>
          </a:p>
        </p:txBody>
      </p:sp>
      <p:sp>
        <p:nvSpPr>
          <p:cNvPr id="3" name="Text 0"/>
          <p:cNvSpPr/>
          <p:nvPr>
            <p:ph idx="100" type="title" hasCustomPrompt="1"/>
          </p:nvPr>
        </p:nvSpPr>
        <p:spPr>
          <a:xfrm>
            <a:off x="731520" y="2103120"/>
            <a:ext cx="10698480" cy="1463040"/>
          </a:xfrm>
          <a:prstGeom prst="rect">
            <a:avLst/>
          </a:prstGeom>
          <a:noFill/>
          <a:ln/>
        </p:spPr>
        <p:txBody>
          <a:bodyPr wrap="square" lIns="0" tIns="0" rIns="0" bIns="0" rtlCol="0" anchor="t"/>
          <a:lstStyle/>
          <a:p>
            <a:pPr algn="l" indent="0" marL="0">
              <a:buNone/>
            </a:pPr>
            <a:r>
              <a:rPr lang="en-US" sz="4400" b="1" dirty="0">
                <a:solidFill>
                  <a:schemeClr val="bg1"/>
                </a:solidFill>
              </a:rPr>
              <a:t>Simple, tested, shipped</a:t>
            </a:r>
            <a:endParaRPr lang="en-US" sz="4400" dirty="0"/>
          </a:p>
        </p:txBody>
      </p:sp>
      <p:sp>
        <p:nvSpPr>
          <p:cNvPr id="4" name="Text 0"/>
          <p:cNvSpPr/>
          <p:nvPr>
            <p:ph idx="101" type="body" hasCustomPrompt="1"/>
          </p:nvPr>
        </p:nvSpPr>
        <p:spPr>
          <a:xfrm>
            <a:off x="731520" y="3657600"/>
            <a:ext cx="10698480" cy="822960"/>
          </a:xfrm>
          <a:prstGeom prst="rect">
            <a:avLst/>
          </a:prstGeom>
          <a:noFill/>
          <a:ln/>
        </p:spPr>
        <p:txBody>
          <a:bodyPr wrap="square" lIns="0" tIns="0" rIns="0" bIns="0" rtlCol="0" anchor="t"/>
          <a:lstStyle/>
          <a:p>
            <a:pPr indent="0" marL="0">
              <a:buNone/>
            </a:pPr>
            <a:r>
              <a:rPr lang="en-US" sz="2000" dirty="0">
                <a:solidFill>
                  <a:schemeClr val="accent5"/>
                </a:solidFill>
              </a:rPr>
              <a:t>Questions and feedback welcome</a:t>
            </a:r>
            <a:endParaRPr lang="en-US" sz="2000" dirty="0"/>
          </a:p>
        </p:txBody>
      </p:sp>
      <p:sp>
        <p:nvSpPr>
          <p:cNvPr id="5" name="Text 3"/>
          <p:cNvSpPr txBox="1"/>
          <p:nvPr/>
        </p:nvSpPr>
        <p:spPr>
          <a:xfrm>
            <a:off x="731520" y="5852160"/>
            <a:ext cx="5486400" cy="365760"/>
          </a:xfrm>
          <a:prstGeom prst="rect">
            <a:avLst/>
          </a:prstGeom>
          <a:noFill/>
          <a:ln/>
        </p:spPr>
        <p:txBody>
          <a:bodyPr wrap="square" lIns="0" tIns="0" rIns="0" bIns="0" rtlCol="0" anchor="ctr"/>
          <a:lstStyle/>
          <a:p>
            <a:pPr indent="0" marL="0">
              <a:buNone/>
            </a:pPr>
            <a:r>
              <a:rPr lang="en-US" sz="1400" dirty="0">
                <a:solidFill>
                  <a:schemeClr val="accent4"/>
                </a:solidFill>
              </a:rPr>
              <a:t>Author: @simplymanas</a:t>
            </a:r>
            <a:endParaRPr lang="en-US" sz="1400" dirty="0"/>
          </a:p>
        </p:txBody>
      </p:sp>
    </p:spTree>
  </p:cSld>
  <p:clrMapOvr>
    <a:masterClrMapping/>
  </p:clrMapOvr>
</p:sld>
</file>

<file path=ppt/theme/theme1.xml><?xml version="1.0" encoding="utf-8"?>
<a:theme xmlns:a="http://schemas.openxmlformats.org/drawingml/2006/main" name="Task Tracker Teal">
  <a:themeElements>
    <a:clrScheme name="Task Tracker Teal">
      <a:dk1>
        <a:srgbClr val="0F2A2E"/>
      </a:dk1>
      <a:lt1>
        <a:srgbClr val="FFFFFF"/>
      </a:lt1>
      <a:dk2>
        <a:srgbClr val="35524F"/>
      </a:dk2>
      <a:lt2>
        <a:srgbClr val="EAF4F2"/>
      </a:lt2>
      <a:accent1>
        <a:srgbClr val="00796B"/>
      </a:accent1>
      <a:accent2>
        <a:srgbClr val="F4B400"/>
      </a:accent2>
      <a:accent3>
        <a:srgbClr val="0B3B40"/>
      </a:accent3>
      <a:accent4>
        <a:srgbClr val="7FCBC0"/>
      </a:accent4>
      <a:accent5>
        <a:srgbClr val="D7ECE8"/>
      </a:accent5>
      <a:accent6>
        <a:srgbClr val="B23A48"/>
      </a:accent6>
      <a:hlink>
        <a:srgbClr val="00796B"/>
      </a:hlink>
      <a:folHlink>
        <a:srgbClr val="5E35B1"/>
      </a:folHlink>
    </a:clrScheme>
    <a:fontScheme name="Task Tracker T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FastAPI Intern Program: Task Tracker API</dc:title>
  <dc:subject>PptxGenJS Presentation</dc:subject>
  <dc:creator>@simplymanas</dc:creator>
  <cp:lastModifiedBy>@simplymanas</cp:lastModifiedBy>
  <cp:revision>1</cp:revision>
  <dcterms:created xsi:type="dcterms:W3CDTF">2026-10-03T07:14:17Z</dcterms:created>
  <dcterms:modified xsi:type="dcterms:W3CDTF">2026-10-03T07:14:17Z</dcterms:modified>
</cp:coreProperties>
</file>